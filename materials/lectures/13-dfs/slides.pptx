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0" r:id="rId1"/>
    <p:sldMasterId id="2147483681" r:id="rId2"/>
    <p:sldMasterId id="2147483668" r:id="rId3"/>
  </p:sldMasterIdLst>
  <p:notesMasterIdLst>
    <p:notesMasterId r:id="rId57"/>
  </p:notesMasterIdLst>
  <p:sldIdLst>
    <p:sldId id="256" r:id="rId4"/>
    <p:sldId id="839" r:id="rId5"/>
    <p:sldId id="779" r:id="rId6"/>
    <p:sldId id="785" r:id="rId7"/>
    <p:sldId id="813" r:id="rId8"/>
    <p:sldId id="841" r:id="rId9"/>
    <p:sldId id="814" r:id="rId10"/>
    <p:sldId id="815" r:id="rId11"/>
    <p:sldId id="812" r:id="rId12"/>
    <p:sldId id="816" r:id="rId13"/>
    <p:sldId id="817" r:id="rId14"/>
    <p:sldId id="838" r:id="rId15"/>
    <p:sldId id="818" r:id="rId16"/>
    <p:sldId id="820" r:id="rId17"/>
    <p:sldId id="836" r:id="rId18"/>
    <p:sldId id="823" r:id="rId19"/>
    <p:sldId id="821" r:id="rId20"/>
    <p:sldId id="822" r:id="rId21"/>
    <p:sldId id="819" r:id="rId22"/>
    <p:sldId id="824" r:id="rId23"/>
    <p:sldId id="842" r:id="rId24"/>
    <p:sldId id="851" r:id="rId25"/>
    <p:sldId id="843" r:id="rId26"/>
    <p:sldId id="844" r:id="rId27"/>
    <p:sldId id="845" r:id="rId28"/>
    <p:sldId id="846" r:id="rId29"/>
    <p:sldId id="849" r:id="rId30"/>
    <p:sldId id="847" r:id="rId31"/>
    <p:sldId id="848" r:id="rId32"/>
    <p:sldId id="825" r:id="rId33"/>
    <p:sldId id="850" r:id="rId34"/>
    <p:sldId id="826" r:id="rId35"/>
    <p:sldId id="827" r:id="rId36"/>
    <p:sldId id="828" r:id="rId37"/>
    <p:sldId id="829" r:id="rId38"/>
    <p:sldId id="852" r:id="rId39"/>
    <p:sldId id="830" r:id="rId40"/>
    <p:sldId id="853" r:id="rId41"/>
    <p:sldId id="854" r:id="rId42"/>
    <p:sldId id="831" r:id="rId43"/>
    <p:sldId id="855" r:id="rId44"/>
    <p:sldId id="856" r:id="rId45"/>
    <p:sldId id="840" r:id="rId46"/>
    <p:sldId id="858" r:id="rId47"/>
    <p:sldId id="832" r:id="rId48"/>
    <p:sldId id="859" r:id="rId49"/>
    <p:sldId id="857" r:id="rId50"/>
    <p:sldId id="860" r:id="rId51"/>
    <p:sldId id="861" r:id="rId52"/>
    <p:sldId id="837" r:id="rId53"/>
    <p:sldId id="835" r:id="rId54"/>
    <p:sldId id="834" r:id="rId55"/>
    <p:sldId id="811" r:id="rId56"/>
  </p:sldIdLst>
  <p:sldSz cx="12192000" cy="6858000"/>
  <p:notesSz cx="6858000" cy="9144000"/>
  <p:embeddedFontLst>
    <p:embeddedFont>
      <p:font typeface="Bookman Old Style" panose="02050604050505020204" pitchFamily="18" charset="0"/>
      <p:regular r:id="rId58"/>
      <p:bold r:id="rId59"/>
      <p:italic r:id="rId60"/>
      <p:boldItalic r:id="rId61"/>
    </p:embeddedFont>
    <p:embeddedFont>
      <p:font typeface="Cambria Math" panose="02040503050406030204" pitchFamily="18" charset="0"/>
      <p:regular r:id="rId62"/>
    </p:embeddedFont>
    <p:embeddedFont>
      <p:font typeface="Gill Sans MT" panose="020B0502020104020203" pitchFamily="34" charset="0"/>
      <p:regular r:id="rId63"/>
      <p:bold r:id="rId64"/>
      <p:italic r:id="rId65"/>
      <p:boldItalic r:id="rId66"/>
    </p:embeddedFont>
    <p:embeddedFont>
      <p:font typeface="Wingdings 3" panose="05040102010807070707" pitchFamily="18" charset="2"/>
      <p:regular r:id="rId67"/>
    </p:embeddedFont>
  </p:embeddedFontLst>
  <p:custDataLst>
    <p:tags r:id="rId68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0000"/>
    <a:srgbClr val="0B0E8F"/>
    <a:srgbClr val="FF9900"/>
    <a:srgbClr val="FFFFCC"/>
    <a:srgbClr val="46464C"/>
    <a:srgbClr val="6E7792"/>
    <a:srgbClr val="1F0C64"/>
    <a:srgbClr val="9FA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0909" autoAdjust="0"/>
  </p:normalViewPr>
  <p:slideViewPr>
    <p:cSldViewPr>
      <p:cViewPr varScale="1">
        <p:scale>
          <a:sx n="101" d="100"/>
          <a:sy n="101" d="100"/>
        </p:scale>
        <p:origin x="198" y="11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font" Target="fonts/font6.fntdata"/><Relationship Id="rId68" Type="http://schemas.openxmlformats.org/officeDocument/2006/relationships/tags" Target="tags/tag1.xml"/><Relationship Id="rId7" Type="http://schemas.openxmlformats.org/officeDocument/2006/relationships/slide" Target="slides/slide4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font" Target="fonts/font1.fntdata"/><Relationship Id="rId66" Type="http://schemas.openxmlformats.org/officeDocument/2006/relationships/font" Target="fonts/font9.fntdata"/><Relationship Id="rId5" Type="http://schemas.openxmlformats.org/officeDocument/2006/relationships/slide" Target="slides/slide2.xml"/><Relationship Id="rId61" Type="http://schemas.openxmlformats.org/officeDocument/2006/relationships/font" Target="fonts/font4.fntdata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font" Target="fonts/font7.fntdata"/><Relationship Id="rId69" Type="http://schemas.openxmlformats.org/officeDocument/2006/relationships/presProps" Target="pres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font" Target="fonts/font2.fntdata"/><Relationship Id="rId67" Type="http://schemas.openxmlformats.org/officeDocument/2006/relationships/font" Target="fonts/font10.fntdata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font" Target="fonts/font5.fntdata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font" Target="fonts/font3.fntdata"/><Relationship Id="rId65" Type="http://schemas.openxmlformats.org/officeDocument/2006/relationships/font" Target="fonts/font8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C45A928-D252-4E73-BA6C-5EBB50EA9974}" type="datetimeFigureOut">
              <a:rPr lang="en-US"/>
              <a:pPr>
                <a:defRPr/>
              </a:pPr>
              <a:t>2/19/2025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E926EA-2410-44E1-B457-BBA54A1622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34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0"/>
          <p:cNvSpPr/>
          <p:nvPr/>
        </p:nvSpPr>
        <p:spPr>
          <a:xfrm>
            <a:off x="1206500" y="3648076"/>
            <a:ext cx="97536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21"/>
          <p:cNvSpPr/>
          <p:nvPr/>
        </p:nvSpPr>
        <p:spPr>
          <a:xfrm>
            <a:off x="1206500" y="3648076"/>
            <a:ext cx="3048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4763"/>
            <a:ext cx="3048000" cy="366712"/>
          </a:xfrm>
        </p:spPr>
        <p:txBody>
          <a:bodyPr/>
          <a:lstStyle>
            <a:lvl1pPr>
              <a:defRPr sz="1400" smtClean="0"/>
            </a:lvl1pPr>
          </a:lstStyle>
          <a:p>
            <a:pPr>
              <a:defRPr/>
            </a:pPr>
            <a:fld id="{E16C4EF9-5865-4A6A-9380-B94D95EDFBB1}" type="datetime1">
              <a:rPr lang="en-US"/>
              <a:pPr>
                <a:defRPr/>
              </a:pPr>
              <a:t>2/19/2025</a:t>
            </a:fld>
            <a:endParaRPr lang="en-US"/>
          </a:p>
        </p:txBody>
      </p:sp>
      <p:sp>
        <p:nvSpPr>
          <p:cNvPr id="11" name="Slide Number Placeholder 28"/>
          <p:cNvSpPr>
            <a:spLocks noGrp="1"/>
          </p:cNvSpPr>
          <p:nvPr>
            <p:ph type="sldNum" sz="quarter" idx="11"/>
          </p:nvPr>
        </p:nvSpPr>
        <p:spPr>
          <a:xfrm>
            <a:off x="1621367" y="6354763"/>
            <a:ext cx="1625600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DE774B-0244-43AE-81AE-949E2AED0BB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D8D4EC-B919-4B7F-AD2C-08A3936481C2}" type="datetime1">
              <a:rPr lang="en-US"/>
              <a:pPr>
                <a:defRPr/>
              </a:pPr>
              <a:t>2/19/2025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1FFA5E-D537-4A8C-B688-12FAF7CC1F1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78A1A-418A-4889-8466-7277E8543661}" type="datetime1">
              <a:rPr lang="en-US"/>
              <a:pPr>
                <a:defRPr/>
              </a:pPr>
              <a:t>2/19/2025</a:t>
            </a:fld>
            <a:endParaRPr lang="en-US"/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51084-9ADD-481F-8E3A-A4A104A158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D7207B-C772-46C0-AF6B-C696C628ECD6}" type="datetime1">
              <a:rPr lang="en-US"/>
              <a:pPr>
                <a:defRPr/>
              </a:pPr>
              <a:t>2/19/2025</a:t>
            </a:fld>
            <a:endParaRPr lang="en-US"/>
          </a:p>
        </p:txBody>
      </p:sp>
      <p:sp>
        <p:nvSpPr>
          <p:cNvPr id="8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0823A-D158-4554-9F4D-D1401680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890D1A-9AF0-4373-9C19-31BA056F18D0}" type="datetime1">
              <a:rPr lang="en-US"/>
              <a:pPr>
                <a:defRPr/>
              </a:pPr>
              <a:t>2/19/2025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802858-B2E8-4CEF-AB5E-E0718287C1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5CEBB1-9625-48F6-B3A4-11D228BFD397}" type="datetime1">
              <a:rPr lang="en-US"/>
              <a:pPr>
                <a:defRPr/>
              </a:pPr>
              <a:t>2/19/2025</a:t>
            </a:fld>
            <a:endParaRPr lang="en-US"/>
          </a:p>
        </p:txBody>
      </p:sp>
      <p:sp>
        <p:nvSpPr>
          <p:cNvPr id="3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2D8101-5309-4DFF-AB2A-546F31B4185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195152B-B4E1-457A-BC5F-3AB91570D542}" type="datetime1">
              <a:rPr lang="en-US" smtClean="0"/>
              <a:pPr>
                <a:defRPr/>
              </a:pPr>
              <a:t>2/19/2025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BDBEE41-09A9-4372-AA29-C508F4A5354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66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16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504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82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825625"/>
            <a:ext cx="515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71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998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0191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677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13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1524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827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6835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569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84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092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318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825625"/>
            <a:ext cx="515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24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069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8732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151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690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5250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75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6835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30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/>
          <p:cNvSpPr>
            <a:spLocks noGrp="1"/>
          </p:cNvSpPr>
          <p:nvPr>
            <p:ph type="title"/>
          </p:nvPr>
        </p:nvSpPr>
        <p:spPr bwMode="auto">
          <a:xfrm>
            <a:off x="609600" y="152400"/>
            <a:ext cx="109728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609600" y="1219200"/>
            <a:ext cx="109728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1" y="6356351"/>
            <a:ext cx="3052233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 smtClean="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D195152B-B4E1-457A-BC5F-3AB91570D542}" type="datetime1">
              <a:rPr lang="en-US"/>
              <a:pPr>
                <a:defRPr/>
              </a:pPr>
              <a:t>2/19/2025</a:t>
            </a:fld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7033" y="6356351"/>
            <a:ext cx="2641600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1BDBEE41-09A9-4372-AA29-C508F4A535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246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550" y="6447367"/>
            <a:ext cx="190500" cy="160867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6" r:id="rId2"/>
    <p:sldLayoutId id="2147483665" r:id="rId3"/>
    <p:sldLayoutId id="2147483664" r:id="rId4"/>
    <p:sldLayoutId id="2147483663" r:id="rId5"/>
    <p:sldLayoutId id="2147483662" r:id="rId6"/>
    <p:sldLayoutId id="2147483680" r:id="rId7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363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F7D500-1223-4445-9EB2-2C72C770F9EB}" type="datetimeFigureOut">
              <a:rPr lang="en-US" smtClean="0"/>
              <a:t>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4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362200" y="1447800"/>
            <a:ext cx="7467600" cy="2057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218" name="Title 1"/>
          <p:cNvSpPr>
            <a:spLocks noGrp="1"/>
          </p:cNvSpPr>
          <p:nvPr>
            <p:ph type="ctrTitle"/>
          </p:nvPr>
        </p:nvSpPr>
        <p:spPr>
          <a:xfrm>
            <a:off x="2743200" y="1823484"/>
            <a:ext cx="6858000" cy="1295400"/>
          </a:xfrm>
        </p:spPr>
        <p:txBody>
          <a:bodyPr/>
          <a:lstStyle/>
          <a:p>
            <a:pPr algn="ctr" eaLnBrk="1" hangingPunct="1"/>
            <a:r>
              <a:rPr lang="en-US" sz="2800" dirty="0">
                <a:solidFill>
                  <a:schemeClr val="bg1"/>
                </a:solidFill>
              </a:rPr>
              <a:t>DSC40B: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Theoretical Foundations of Data Science II </a:t>
            </a:r>
            <a:endParaRPr lang="en-US" sz="2800" i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67000" y="3962400"/>
            <a:ext cx="6858000" cy="1885950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sz="2800" dirty="0"/>
              <a:t>Lecture 13:   </a:t>
            </a:r>
            <a:r>
              <a:rPr lang="en-US" sz="2800" i="1" dirty="0"/>
              <a:t>Depth-First Search (DFS)</a:t>
            </a:r>
          </a:p>
          <a:p>
            <a:pPr algn="ctr" eaLnBrk="1" fontAlgn="auto" hangingPunct="1">
              <a:spcAft>
                <a:spcPts val="0"/>
              </a:spcAft>
              <a:defRPr/>
            </a:pPr>
            <a:endParaRPr lang="en-US" sz="4000" dirty="0"/>
          </a:p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sz="2800" dirty="0"/>
              <a:t>Instructor: Yusu Wang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362200" y="1447800"/>
            <a:ext cx="304800" cy="2057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09A47-8169-AE0D-26EA-33F3A1AAB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more property about BFS	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76F72C-84FB-0C94-26EF-5A536A20F1E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For BFS algorithm, at any moment of the algorithm:</a:t>
                </a:r>
              </a:p>
              <a:p>
                <a:pPr lvl="1"/>
                <a:r>
                  <a:rPr lang="en-US" dirty="0"/>
                  <a:t>Recall the queue stores all the </a:t>
                </a:r>
                <a:r>
                  <a:rPr lang="en-US" dirty="0">
                    <a:solidFill>
                      <a:srgbClr val="00B050"/>
                    </a:solidFill>
                  </a:rPr>
                  <a:t>pending</a:t>
                </a:r>
                <a:r>
                  <a:rPr lang="en-US" dirty="0"/>
                  <a:t> nodes (discovered, but not explored) </a:t>
                </a:r>
              </a:p>
              <a:p>
                <a:pPr lvl="1"/>
                <a:r>
                  <a:rPr lang="en-US" dirty="0"/>
                  <a:t>Recall we are inserting nodes into the queue in non-decreasing order their distance from source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It is easy to verify that </a:t>
                </a:r>
              </a:p>
              <a:p>
                <a:pPr lvl="2"/>
                <a:r>
                  <a:rPr lang="en-US" dirty="0"/>
                  <a:t>The shortest path distance from the source are non-decreasing in the queue</a:t>
                </a:r>
              </a:p>
              <a:p>
                <a:pPr lvl="2"/>
                <a:r>
                  <a:rPr lang="en-US" dirty="0"/>
                  <a:t>The shortest path distance for nodes in the queue cannot differ more than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76F72C-84FB-0C94-26EF-5A536A20F1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00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5260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Prelude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494781-9569-4BCE-B3A3-2C8EB0F996B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Previously,  </a:t>
                </a:r>
                <a:r>
                  <a:rPr lang="en-US" sz="2400" dirty="0">
                    <a:solidFill>
                      <a:srgbClr val="0B0E8F"/>
                    </a:solidFill>
                  </a:rPr>
                  <a:t>Search strategy </a:t>
                </a:r>
                <a:r>
                  <a:rPr lang="en-US" sz="2400" dirty="0"/>
                  <a:t>: </a:t>
                </a:r>
                <a:r>
                  <a:rPr lang="en-US" sz="2000" dirty="0"/>
                  <a:t> </a:t>
                </a:r>
              </a:p>
              <a:p>
                <a:r>
                  <a:rPr lang="en-US" sz="2300" dirty="0"/>
                  <a:t>How to decide which is the next node to explore? </a:t>
                </a:r>
              </a:p>
              <a:p>
                <a:pPr lvl="1"/>
                <a:r>
                  <a:rPr lang="en-US" sz="2000" dirty="0">
                    <a:solidFill>
                      <a:srgbClr val="0B0E8F"/>
                    </a:solidFill>
                  </a:rPr>
                  <a:t>BFS (Breadth-first search): </a:t>
                </a:r>
              </a:p>
              <a:p>
                <a:pPr lvl="2"/>
                <a:r>
                  <a:rPr lang="en-US" sz="1800" dirty="0"/>
                  <a:t>choose the ``</a:t>
                </a:r>
                <a:r>
                  <a:rPr lang="en-US" sz="1800" dirty="0">
                    <a:solidFill>
                      <a:srgbClr val="C00000"/>
                    </a:solidFill>
                  </a:rPr>
                  <a:t>oldest</a:t>
                </a:r>
                <a:r>
                  <a:rPr lang="en-US" sz="1800" dirty="0"/>
                  <a:t>” pending node to explore and expand</a:t>
                </a:r>
              </a:p>
              <a:p>
                <a:pPr lvl="2"/>
                <a:r>
                  <a:rPr lang="en-US" sz="1800" dirty="0"/>
                  <a:t>consequently,  it explores as wide as possible before goes any ``deeper” (in terms of distance to the source) </a:t>
                </a:r>
              </a:p>
              <a:p>
                <a:pPr lvl="3"/>
                <a:r>
                  <a:rPr lang="en-US" sz="1800" dirty="0" err="1"/>
                  <a:t>i.e</a:t>
                </a:r>
                <a:r>
                  <a:rPr lang="en-US" sz="1800" dirty="0"/>
                  <a:t>, it visits all nodes at distance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800" dirty="0"/>
                  <a:t> to the source before moving to any node at distance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800" dirty="0"/>
                  <a:t> from the source.  </a:t>
                </a:r>
              </a:p>
              <a:p>
                <a:pPr lvl="4"/>
                <a:endParaRPr lang="en-US" dirty="0"/>
              </a:p>
              <a:p>
                <a:r>
                  <a:rPr lang="en-US" sz="2400" dirty="0"/>
                  <a:t>Today:  </a:t>
                </a:r>
                <a:r>
                  <a:rPr lang="en-US" sz="2000" dirty="0">
                    <a:solidFill>
                      <a:srgbClr val="0B0E8F"/>
                    </a:solidFill>
                  </a:rPr>
                  <a:t>Depth-first search (DFS):</a:t>
                </a:r>
                <a:endParaRPr lang="en-US" dirty="0">
                  <a:solidFill>
                    <a:srgbClr val="0B0E8F"/>
                  </a:solidFill>
                </a:endParaRPr>
              </a:p>
              <a:p>
                <a:pPr lvl="1"/>
                <a:r>
                  <a:rPr lang="en-US" sz="2000" dirty="0"/>
                  <a:t>Choose the ``</a:t>
                </a:r>
                <a:r>
                  <a:rPr lang="en-US" sz="2000" dirty="0">
                    <a:solidFill>
                      <a:srgbClr val="C00000"/>
                    </a:solidFill>
                  </a:rPr>
                  <a:t>newest</a:t>
                </a:r>
                <a:r>
                  <a:rPr lang="en-US" sz="2000" dirty="0"/>
                  <a:t>” pending node to explore</a:t>
                </a:r>
              </a:p>
              <a:p>
                <a:pPr lvl="1"/>
                <a:r>
                  <a:rPr lang="en-US" sz="2000" dirty="0"/>
                  <a:t>Consequently, it will go as deep (farther away from source) as possible during exploration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494781-9569-4BCE-B3A3-2C8EB0F996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 r="-5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0505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DFS algorithm and time complexity</a:t>
            </a:r>
          </a:p>
        </p:txBody>
      </p:sp>
    </p:spTree>
    <p:extLst>
      <p:ext uri="{BB962C8B-B14F-4D97-AF65-F5344CB8AC3E}">
        <p14:creationId xmlns:p14="http://schemas.microsoft.com/office/powerpoint/2010/main" val="1929170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165EB-B832-46CB-A529-1EA366AB3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Depth-first Search (DFS)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FA441B-FF62-4217-BAAA-4264D5092A5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DFS(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It will perform depth-first search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starting from a graph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called the </a:t>
                </a:r>
                <a:r>
                  <a:rPr lang="en-US" i="1" dirty="0"/>
                  <a:t>source</a:t>
                </a:r>
                <a:r>
                  <a:rPr lang="en-US" dirty="0"/>
                  <a:t> node. </a:t>
                </a:r>
              </a:p>
              <a:p>
                <a:pPr lvl="1"/>
                <a:r>
                  <a:rPr lang="en-US" dirty="0"/>
                  <a:t>At each step of exploration, take </a:t>
                </a:r>
                <a:r>
                  <a:rPr lang="en-US" dirty="0">
                    <a:solidFill>
                      <a:srgbClr val="0B0E8F"/>
                    </a:solidFill>
                  </a:rPr>
                  <a:t>newest</a:t>
                </a:r>
                <a:r>
                  <a:rPr lang="en-US" dirty="0"/>
                  <a:t> pending node to explore. </a:t>
                </a:r>
              </a:p>
              <a:p>
                <a:endParaRPr lang="en-US" dirty="0"/>
              </a:p>
              <a:p>
                <a:r>
                  <a:rPr lang="en-US" dirty="0"/>
                  <a:t>To be able to extract the “</a:t>
                </a:r>
                <a:r>
                  <a:rPr lang="en-US" dirty="0">
                    <a:solidFill>
                      <a:srgbClr val="0B0E8F"/>
                    </a:solidFill>
                  </a:rPr>
                  <a:t>newest</a:t>
                </a:r>
                <a:r>
                  <a:rPr lang="en-US" dirty="0"/>
                  <a:t>” pending node</a:t>
                </a:r>
              </a:p>
              <a:p>
                <a:pPr lvl="1"/>
                <a:r>
                  <a:rPr lang="en-US" dirty="0"/>
                  <a:t>we need a standard </a:t>
                </a:r>
                <a:r>
                  <a:rPr lang="en-US" dirty="0">
                    <a:solidFill>
                      <a:srgbClr val="0B0E8F"/>
                    </a:solidFill>
                  </a:rPr>
                  <a:t>stack</a:t>
                </a:r>
                <a:r>
                  <a:rPr lang="en-US" dirty="0"/>
                  <a:t> data structure to provide </a:t>
                </a:r>
                <a:r>
                  <a:rPr lang="en-US" dirty="0">
                    <a:solidFill>
                      <a:srgbClr val="0B0E8F"/>
                    </a:solidFill>
                  </a:rPr>
                  <a:t>FILO (first-in-last-out)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In algorithm implementation, </a:t>
                </a:r>
              </a:p>
              <a:p>
                <a:pPr lvl="1"/>
                <a:r>
                  <a:rPr lang="en-US" dirty="0"/>
                  <a:t>we use </a:t>
                </a:r>
                <a:r>
                  <a:rPr lang="en-US" dirty="0">
                    <a:solidFill>
                      <a:srgbClr val="0B0E8F"/>
                    </a:solidFill>
                  </a:rPr>
                  <a:t>recursive algorithm</a:t>
                </a:r>
                <a:r>
                  <a:rPr lang="en-US" dirty="0"/>
                  <a:t> to achieve this </a:t>
                </a:r>
                <a:r>
                  <a:rPr lang="en-US" dirty="0">
                    <a:solidFill>
                      <a:srgbClr val="0B0E8F"/>
                    </a:solidFill>
                  </a:rPr>
                  <a:t>FILO/stack</a:t>
                </a:r>
                <a:r>
                  <a:rPr lang="en-US" dirty="0"/>
                  <a:t> idea implicitly</a:t>
                </a:r>
              </a:p>
              <a:p>
                <a:endParaRPr lang="en-US" sz="12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FA441B-FF62-4217-BAAA-4264D5092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00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2547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295C0D-795C-8BDE-3E73-B80F1DD7B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26099-8C06-DF67-1E43-0C7DD398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Depth-first Search (DFS)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3944C9-3296-4D45-A799-928915A128B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DFS(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It will perform depth-first search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starting from a graph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called the </a:t>
                </a:r>
                <a:r>
                  <a:rPr lang="en-US" i="1" dirty="0"/>
                  <a:t>source</a:t>
                </a:r>
                <a:r>
                  <a:rPr lang="en-US" dirty="0"/>
                  <a:t> node. </a:t>
                </a:r>
              </a:p>
              <a:p>
                <a:endParaRPr lang="en-US" sz="1200" dirty="0"/>
              </a:p>
              <a:p>
                <a:r>
                  <a:rPr lang="en-US" dirty="0"/>
                  <a:t>Idea: </a:t>
                </a:r>
              </a:p>
              <a:p>
                <a:pPr lvl="1"/>
                <a:r>
                  <a:rPr lang="en-US" dirty="0"/>
                  <a:t>All nodes are initialized as </a:t>
                </a:r>
                <a:r>
                  <a:rPr lang="en-US" dirty="0">
                    <a:solidFill>
                      <a:srgbClr val="00B050"/>
                    </a:solidFill>
                  </a:rPr>
                  <a:t>undiscovered</a:t>
                </a:r>
                <a:r>
                  <a:rPr lang="en-US" dirty="0"/>
                  <a:t>, other than the source node, which is initialized as </a:t>
                </a:r>
                <a:r>
                  <a:rPr lang="en-US" dirty="0">
                    <a:solidFill>
                      <a:schemeClr val="accent4">
                        <a:lumMod val="75000"/>
                      </a:schemeClr>
                    </a:solidFill>
                  </a:rPr>
                  <a:t>pending</a:t>
                </a:r>
                <a:r>
                  <a:rPr lang="en-US" dirty="0"/>
                  <a:t> (</a:t>
                </a:r>
                <a:r>
                  <a:rPr lang="en-US" dirty="0" err="1"/>
                  <a:t>i.e</a:t>
                </a:r>
                <a:r>
                  <a:rPr lang="en-US" dirty="0"/>
                  <a:t>, discovered, and to be processed) </a:t>
                </a:r>
              </a:p>
              <a:p>
                <a:pPr lvl="1"/>
                <a:r>
                  <a:rPr lang="en-US" dirty="0"/>
                  <a:t>At each step: </a:t>
                </a:r>
              </a:p>
              <a:p>
                <a:pPr lvl="2"/>
                <a:r>
                  <a:rPr lang="en-US" dirty="0"/>
                  <a:t>take the </a:t>
                </a:r>
                <a:r>
                  <a:rPr lang="en-US" dirty="0">
                    <a:solidFill>
                      <a:srgbClr val="0B0E8F"/>
                    </a:solidFill>
                  </a:rPr>
                  <a:t>newest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accent4">
                        <a:lumMod val="75000"/>
                      </a:schemeClr>
                    </a:solidFill>
                  </a:rPr>
                  <a:t>pending</a:t>
                </a:r>
                <a:r>
                  <a:rPr lang="en-US" dirty="0"/>
                  <a:t> node to explore</a:t>
                </a:r>
              </a:p>
              <a:p>
                <a:pPr lvl="2"/>
                <a:r>
                  <a:rPr lang="en-US" i="1" dirty="0"/>
                  <a:t>explore all undiscovered nodes reachable from this node</a:t>
                </a:r>
                <a:endParaRPr lang="en-US" i="1" dirty="0">
                  <a:solidFill>
                    <a:schemeClr val="accent4">
                      <a:lumMod val="75000"/>
                    </a:schemeClr>
                  </a:solidFill>
                </a:endParaRPr>
              </a:p>
              <a:p>
                <a:pPr lvl="2"/>
                <a:r>
                  <a:rPr lang="en-US" dirty="0"/>
                  <a:t>then mark this node to be </a:t>
                </a:r>
                <a:r>
                  <a:rPr lang="en-US" dirty="0">
                    <a:solidFill>
                      <a:srgbClr val="C00000"/>
                    </a:solidFill>
                  </a:rPr>
                  <a:t>visited</a:t>
                </a:r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Repeat till there is no more </a:t>
                </a:r>
                <a:r>
                  <a:rPr lang="en-US" dirty="0">
                    <a:solidFill>
                      <a:schemeClr val="accent4">
                        <a:lumMod val="75000"/>
                      </a:schemeClr>
                    </a:solidFill>
                  </a:rPr>
                  <a:t>pending</a:t>
                </a:r>
                <a:r>
                  <a:rPr lang="en-US" dirty="0"/>
                  <a:t> nodes to explore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3944C9-3296-4D45-A799-928915A128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00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9628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783CF-CCD1-46C3-A9D2-A061131BE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47C39-B22D-4D96-B9A5-9B8DB02845E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To be able to extract the “</a:t>
            </a:r>
            <a:r>
              <a:rPr lang="en-US" dirty="0">
                <a:solidFill>
                  <a:srgbClr val="0B0E8F"/>
                </a:solidFill>
              </a:rPr>
              <a:t>newest</a:t>
            </a:r>
            <a:r>
              <a:rPr lang="en-US" dirty="0"/>
              <a:t>” pending node</a:t>
            </a:r>
          </a:p>
          <a:p>
            <a:pPr lvl="1"/>
            <a:r>
              <a:rPr lang="en-US" dirty="0"/>
              <a:t>we need a standard </a:t>
            </a:r>
            <a:r>
              <a:rPr lang="en-US" dirty="0">
                <a:solidFill>
                  <a:srgbClr val="0B0E8F"/>
                </a:solidFill>
              </a:rPr>
              <a:t>stack</a:t>
            </a:r>
            <a:r>
              <a:rPr lang="en-US" dirty="0"/>
              <a:t> data structure to provide </a:t>
            </a:r>
            <a:r>
              <a:rPr lang="en-US" dirty="0">
                <a:solidFill>
                  <a:srgbClr val="0B0E8F"/>
                </a:solidFill>
              </a:rPr>
              <a:t>FILO (first-in-last-out)</a:t>
            </a:r>
          </a:p>
          <a:p>
            <a:pPr lvl="1"/>
            <a:endParaRPr lang="en-US" dirty="0"/>
          </a:p>
          <a:p>
            <a:r>
              <a:rPr lang="en-US" dirty="0"/>
              <a:t>In algorithm implementation, </a:t>
            </a:r>
          </a:p>
          <a:p>
            <a:pPr lvl="1"/>
            <a:r>
              <a:rPr lang="en-US" dirty="0"/>
              <a:t>we use </a:t>
            </a:r>
            <a:r>
              <a:rPr lang="en-US" dirty="0">
                <a:solidFill>
                  <a:srgbClr val="0B0E8F"/>
                </a:solidFill>
              </a:rPr>
              <a:t>recursive algorithm</a:t>
            </a:r>
            <a:r>
              <a:rPr lang="en-US" dirty="0"/>
              <a:t> to achieve this </a:t>
            </a:r>
            <a:r>
              <a:rPr lang="en-US" dirty="0">
                <a:solidFill>
                  <a:srgbClr val="0B0E8F"/>
                </a:solidFill>
              </a:rPr>
              <a:t>FILO/stack</a:t>
            </a:r>
            <a:r>
              <a:rPr lang="en-US" dirty="0"/>
              <a:t> idea implicitly</a:t>
            </a:r>
          </a:p>
        </p:txBody>
      </p:sp>
    </p:spTree>
    <p:extLst>
      <p:ext uri="{BB962C8B-B14F-4D97-AF65-F5344CB8AC3E}">
        <p14:creationId xmlns:p14="http://schemas.microsoft.com/office/powerpoint/2010/main" val="1981120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12908-EC0A-4325-BB70-B2549322A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3CC3B-DC84-4879-AA18-642DD5698A3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D510D-52FD-4CF1-B9E4-E3E43AEE92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1539108"/>
            <a:ext cx="8458200" cy="341389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957789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AB507-DA68-4E03-905B-271E587E8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7F9B3E-66A4-4DC6-A4C8-19623F46A4E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4000500"/>
                <a:ext cx="9601200" cy="2156460"/>
              </a:xfrm>
            </p:spPr>
            <p:txBody>
              <a:bodyPr/>
              <a:lstStyle/>
              <a:p>
                <a:r>
                  <a:rPr lang="en-US" dirty="0"/>
                  <a:t>Call </a:t>
                </a:r>
                <a:r>
                  <a:rPr lang="en-US" dirty="0" err="1">
                    <a:solidFill>
                      <a:srgbClr val="0070C0"/>
                    </a:solidFill>
                  </a:rPr>
                  <a:t>dfs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7F9B3E-66A4-4DC6-A4C8-19623F46A4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4000500"/>
                <a:ext cx="9601200" cy="2156460"/>
              </a:xfrm>
              <a:blipFill>
                <a:blip r:embed="rId2"/>
                <a:stretch>
                  <a:fillRect l="-571" t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D1F422FE-364C-4D20-99E0-05A7930730E8}"/>
              </a:ext>
            </a:extLst>
          </p:cNvPr>
          <p:cNvGrpSpPr/>
          <p:nvPr/>
        </p:nvGrpSpPr>
        <p:grpSpPr>
          <a:xfrm>
            <a:off x="609600" y="1305910"/>
            <a:ext cx="5581650" cy="2552700"/>
            <a:chOff x="76200" y="1305910"/>
            <a:chExt cx="5581650" cy="25527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FC245B-CDA4-4EDC-89FC-C189AFF1A6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8200" y="1305910"/>
              <a:ext cx="4819650" cy="25527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36F5CD-AE1D-44B8-8D07-1247B0662951}"/>
                    </a:ext>
                  </a:extLst>
                </p:cNvPr>
                <p:cNvSpPr txBox="1"/>
                <p:nvPr/>
              </p:nvSpPr>
              <p:spPr>
                <a:xfrm>
                  <a:off x="76200" y="2209800"/>
                  <a:ext cx="609600" cy="5132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/>
                    <a:t>: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36F5CD-AE1D-44B8-8D07-1247B06629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00" y="2209800"/>
                  <a:ext cx="609600" cy="513282"/>
                </a:xfrm>
                <a:prstGeom prst="rect">
                  <a:avLst/>
                </a:prstGeom>
                <a:blipFill>
                  <a:blip r:embed="rId4"/>
                  <a:stretch>
                    <a:fillRect b="-119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93585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687A8-1070-4EE4-A81F-A0DA960B2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DFS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4D9F7-F596-48E6-BC9E-09EFFE46754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DFS will visit all nodes reachable from the source node</a:t>
            </a:r>
          </a:p>
          <a:p>
            <a:pPr lvl="1"/>
            <a:r>
              <a:rPr lang="en-US" dirty="0"/>
              <a:t>If the input graph is connected, then it will visit all nodes in the same connected component as the source</a:t>
            </a:r>
          </a:p>
          <a:p>
            <a:r>
              <a:rPr lang="en-US" dirty="0"/>
              <a:t>To visit all nodes in a graph</a:t>
            </a:r>
          </a:p>
          <a:p>
            <a:pPr lvl="1"/>
            <a:r>
              <a:rPr lang="en-US" dirty="0"/>
              <a:t>Needs full-DFS </a:t>
            </a:r>
          </a:p>
          <a:p>
            <a:pPr lvl="2"/>
            <a:r>
              <a:rPr lang="en-US" dirty="0"/>
              <a:t>which requires we restart from undiscovered nodes.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84D9EF-334D-4501-AF53-C2F7284316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4150661"/>
            <a:ext cx="8534400" cy="145660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9701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09B28-2BB9-4AA0-9835-2572ADD08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B7B17-BA83-4CEC-8434-03F40E6D8E0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E89F4-E62B-4183-9192-9571FC0E37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1" y="1299598"/>
            <a:ext cx="8458199" cy="144360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AAA413-539B-45D6-9159-9DE720247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34508"/>
            <a:ext cx="8458200" cy="341389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5786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24535-A54D-45A6-A048-79060B54E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94A4A89-B992-482A-8E08-C54FD117993F}"/>
              </a:ext>
            </a:extLst>
          </p:cNvPr>
          <p:cNvGrpSpPr/>
          <p:nvPr/>
        </p:nvGrpSpPr>
        <p:grpSpPr>
          <a:xfrm>
            <a:off x="1981201" y="1219200"/>
            <a:ext cx="5667375" cy="4265832"/>
            <a:chOff x="457200" y="1219200"/>
            <a:chExt cx="5667375" cy="42658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FC24B43-2E80-4505-8367-99AC2B4A00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" y="1219200"/>
              <a:ext cx="5667375" cy="408312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51C1F63F-08FC-401C-A4EC-4940363CEED8}"/>
                    </a:ext>
                  </a:extLst>
                </p:cNvPr>
                <p:cNvSpPr txBox="1"/>
                <p:nvPr/>
              </p:nvSpPr>
              <p:spPr>
                <a:xfrm>
                  <a:off x="5029200" y="2241331"/>
                  <a:ext cx="457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51C1F63F-08FC-401C-A4EC-4940363CEE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9200" y="2241331"/>
                  <a:ext cx="45720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3236225-98B6-41E3-B878-A2D35583B8DA}"/>
                    </a:ext>
                  </a:extLst>
                </p:cNvPr>
                <p:cNvSpPr txBox="1"/>
                <p:nvPr/>
              </p:nvSpPr>
              <p:spPr>
                <a:xfrm>
                  <a:off x="1371600" y="1828800"/>
                  <a:ext cx="457200" cy="381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3236225-98B6-41E3-B878-A2D35583B8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71600" y="1828800"/>
                  <a:ext cx="457200" cy="3810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A665A87-AFF4-4E98-8C87-B22A7EDB4063}"/>
                    </a:ext>
                  </a:extLst>
                </p:cNvPr>
                <p:cNvSpPr txBox="1"/>
                <p:nvPr/>
              </p:nvSpPr>
              <p:spPr>
                <a:xfrm>
                  <a:off x="3886200" y="1563560"/>
                  <a:ext cx="457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A665A87-AFF4-4E98-8C87-B22A7EDB40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6200" y="1563560"/>
                  <a:ext cx="45720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4991DC9-E66E-480B-88A8-2D003FAAD325}"/>
                    </a:ext>
                  </a:extLst>
                </p:cNvPr>
                <p:cNvSpPr txBox="1"/>
                <p:nvPr/>
              </p:nvSpPr>
              <p:spPr>
                <a:xfrm>
                  <a:off x="5202936" y="1447800"/>
                  <a:ext cx="457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4991DC9-E66E-480B-88A8-2D003FAAD3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02936" y="1447800"/>
                  <a:ext cx="45720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16B6045-99ED-4719-8047-37A4C51E62F4}"/>
                    </a:ext>
                  </a:extLst>
                </p:cNvPr>
                <p:cNvSpPr txBox="1"/>
                <p:nvPr/>
              </p:nvSpPr>
              <p:spPr>
                <a:xfrm>
                  <a:off x="4495800" y="3497580"/>
                  <a:ext cx="457200" cy="381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16B6045-99ED-4719-8047-37A4C51E62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5800" y="3497580"/>
                  <a:ext cx="457200" cy="38100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F9C7001-BA83-4FF9-8CB9-502B1693EE1E}"/>
                    </a:ext>
                  </a:extLst>
                </p:cNvPr>
                <p:cNvSpPr txBox="1"/>
                <p:nvPr/>
              </p:nvSpPr>
              <p:spPr>
                <a:xfrm>
                  <a:off x="4590288" y="4396010"/>
                  <a:ext cx="457200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oMath>
                    </m:oMathPara>
                  </a14:m>
                  <a:endParaRPr lang="en-US" b="0" dirty="0"/>
                </a:p>
                <a:p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F9C7001-BA83-4FF9-8CB9-502B1693EE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0288" y="4396010"/>
                  <a:ext cx="457200" cy="6463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E07C0DFC-E3AF-475E-A847-79012710F580}"/>
                    </a:ext>
                  </a:extLst>
                </p:cNvPr>
                <p:cNvSpPr txBox="1"/>
                <p:nvPr/>
              </p:nvSpPr>
              <p:spPr>
                <a:xfrm>
                  <a:off x="5623560" y="3785616"/>
                  <a:ext cx="457200" cy="381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9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E07C0DFC-E3AF-475E-A847-79012710F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3560" y="3785616"/>
                  <a:ext cx="457200" cy="38100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0F3F8DCC-94FF-47EC-A8F2-1692FD595ED9}"/>
                    </a:ext>
                  </a:extLst>
                </p:cNvPr>
                <p:cNvSpPr txBox="1"/>
                <p:nvPr/>
              </p:nvSpPr>
              <p:spPr>
                <a:xfrm>
                  <a:off x="5496747" y="4838701"/>
                  <a:ext cx="457200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oMath>
                    </m:oMathPara>
                  </a14:m>
                  <a:endParaRPr lang="en-US" b="0" dirty="0"/>
                </a:p>
                <a:p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0F3F8DCC-94FF-47EC-A8F2-1692FD595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6747" y="4838701"/>
                  <a:ext cx="457200" cy="64633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D6C36072-6A52-4A22-95CB-DE43B618E89A}"/>
                    </a:ext>
                  </a:extLst>
                </p:cNvPr>
                <p:cNvSpPr txBox="1"/>
                <p:nvPr/>
              </p:nvSpPr>
              <p:spPr>
                <a:xfrm>
                  <a:off x="609600" y="2688336"/>
                  <a:ext cx="457200" cy="381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D6C36072-6A52-4A22-95CB-DE43B618E8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" y="2688336"/>
                  <a:ext cx="457200" cy="38100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1D8481B-0CDC-493D-B5A1-0EFC21FD75E0}"/>
                    </a:ext>
                  </a:extLst>
                </p:cNvPr>
                <p:cNvSpPr txBox="1"/>
                <p:nvPr/>
              </p:nvSpPr>
              <p:spPr>
                <a:xfrm>
                  <a:off x="1627632" y="2852928"/>
                  <a:ext cx="457200" cy="381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1D8481B-0CDC-493D-B5A1-0EFC21FD75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7632" y="2852928"/>
                  <a:ext cx="457200" cy="38100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D33F969-116D-4894-9045-4BF91FE6D377}"/>
                    </a:ext>
                  </a:extLst>
                </p:cNvPr>
                <p:cNvSpPr txBox="1"/>
                <p:nvPr/>
              </p:nvSpPr>
              <p:spPr>
                <a:xfrm>
                  <a:off x="2514600" y="2414016"/>
                  <a:ext cx="457200" cy="381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D33F969-116D-4894-9045-4BF91FE6D3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4600" y="2414016"/>
                  <a:ext cx="457200" cy="38100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AB4F4AD-95D3-4DBA-971C-1710AE6DC962}"/>
                    </a:ext>
                  </a:extLst>
                </p:cNvPr>
                <p:cNvSpPr txBox="1"/>
                <p:nvPr/>
              </p:nvSpPr>
              <p:spPr>
                <a:xfrm>
                  <a:off x="2543175" y="3453962"/>
                  <a:ext cx="457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AB4F4AD-95D3-4DBA-971C-1710AE6DC9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3175" y="3453962"/>
                  <a:ext cx="457200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75852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1083C-7549-42E5-AB67-0CB8EC97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complexity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6150EB-17A9-422B-B491-30BF57E3910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(similar to BFS):  for full-DFS</a:t>
                </a:r>
              </a:p>
              <a:p>
                <a:pPr lvl="1"/>
                <a:r>
                  <a:rPr lang="en-US" dirty="0"/>
                  <a:t>Each node will be explored exactly once </a:t>
                </a:r>
              </a:p>
              <a:p>
                <a:pPr lvl="2"/>
                <a:r>
                  <a:rPr lang="en-US" dirty="0"/>
                  <a:t>Each edge will be traversed (visited) twice for undirected graphs</a:t>
                </a:r>
              </a:p>
              <a:p>
                <a:pPr lvl="2"/>
                <a:r>
                  <a:rPr lang="en-US" dirty="0"/>
                  <a:t>Each edge will be traversed (visited) once will for directed graphs</a:t>
                </a:r>
              </a:p>
              <a:p>
                <a:pPr lvl="2"/>
                <a:endParaRPr lang="en-US" dirty="0"/>
              </a:p>
              <a:p>
                <a:pPr lvl="1"/>
                <a:r>
                  <a:rPr lang="en-US" dirty="0"/>
                  <a:t>Hence total time complexity of full-DFS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6150EB-17A9-422B-B491-30BF57E391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5102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DFS Tree, start and finish times</a:t>
            </a:r>
          </a:p>
        </p:txBody>
      </p:sp>
    </p:spTree>
    <p:extLst>
      <p:ext uri="{BB962C8B-B14F-4D97-AF65-F5344CB8AC3E}">
        <p14:creationId xmlns:p14="http://schemas.microsoft.com/office/powerpoint/2010/main" val="11283146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09B28-2BB9-4AA0-9835-2572ADD08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full_DFS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B7B17-BA83-4CEC-8434-03F40E6D8E0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1E89F4-E62B-4183-9192-9571FC0E37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1" y="1299598"/>
            <a:ext cx="8458199" cy="144360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AAA413-539B-45D6-9159-9DE720247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34508"/>
            <a:ext cx="8458200" cy="341389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21650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EC0BA-806D-4242-8C1B-F0302937E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“Parent” (Predecessor) information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A50A36-F6CE-4DBB-95E5-AFA0ADC8BF5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Similar to BFS, for each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its </a:t>
                </a:r>
                <a:r>
                  <a:rPr lang="en-US" dirty="0">
                    <a:solidFill>
                      <a:srgbClr val="0070C0"/>
                    </a:solidFill>
                  </a:rPr>
                  <a:t>(DFS-)predecessor</a:t>
                </a:r>
                <a:r>
                  <a:rPr lang="en-US" dirty="0"/>
                  <a:t> is the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where through exploring edge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) the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was first discovered (status changed to pending).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Collection of edges of the form (predecessor(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),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) will give a tree</a:t>
                </a:r>
              </a:p>
              <a:p>
                <a:pPr lvl="1"/>
                <a:r>
                  <a:rPr lang="en-US" dirty="0"/>
                  <a:t>called </a:t>
                </a:r>
                <a:r>
                  <a:rPr lang="en-US" dirty="0">
                    <a:solidFill>
                      <a:srgbClr val="0070C0"/>
                    </a:solidFill>
                  </a:rPr>
                  <a:t>DFS-tree</a:t>
                </a:r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Predecessor(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) is the parent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in this DFS-tree.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A50A36-F6CE-4DBB-95E5-AFA0ADC8BF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00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4562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E5511-288B-44FC-9E3D-BED04BB8A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79B4C-8EE8-4325-854A-8949963A178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Between marking a node as </a:t>
            </a:r>
            <a:r>
              <a:rPr lang="en-US" dirty="0">
                <a:solidFill>
                  <a:srgbClr val="FFC000"/>
                </a:solidFill>
              </a:rPr>
              <a:t>pending</a:t>
            </a:r>
            <a:r>
              <a:rPr lang="en-US" dirty="0"/>
              <a:t> and </a:t>
            </a:r>
            <a:r>
              <a:rPr lang="en-US" dirty="0">
                <a:solidFill>
                  <a:srgbClr val="C00000"/>
                </a:solidFill>
              </a:rPr>
              <a:t>visited</a:t>
            </a:r>
            <a:r>
              <a:rPr lang="en-US" dirty="0"/>
              <a:t>, many other nodes are marked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pending</a:t>
            </a:r>
            <a:r>
              <a:rPr lang="en-US" dirty="0"/>
              <a:t> or </a:t>
            </a:r>
            <a:r>
              <a:rPr lang="en-US" dirty="0">
                <a:solidFill>
                  <a:srgbClr val="C00000"/>
                </a:solidFill>
              </a:rPr>
              <a:t>visited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BFD58BA-F106-4854-87C4-6B6B66329580}"/>
              </a:ext>
            </a:extLst>
          </p:cNvPr>
          <p:cNvGrpSpPr/>
          <p:nvPr/>
        </p:nvGrpSpPr>
        <p:grpSpPr>
          <a:xfrm>
            <a:off x="2133600" y="2819400"/>
            <a:ext cx="5581650" cy="2552700"/>
            <a:chOff x="76200" y="1305910"/>
            <a:chExt cx="5581650" cy="25527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588D761-0C0E-4246-A30B-E1C652D6A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8200" y="1305910"/>
              <a:ext cx="4819650" cy="25527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36592D5-02F8-4E30-AE53-BECE1F4C038F}"/>
                    </a:ext>
                  </a:extLst>
                </p:cNvPr>
                <p:cNvSpPr txBox="1"/>
                <p:nvPr/>
              </p:nvSpPr>
              <p:spPr>
                <a:xfrm>
                  <a:off x="76200" y="2209800"/>
                  <a:ext cx="609600" cy="5132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/>
                    <a:t>: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36592D5-02F8-4E30-AE53-BECE1F4C0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00" y="2209800"/>
                  <a:ext cx="609600" cy="513282"/>
                </a:xfrm>
                <a:prstGeom prst="rect">
                  <a:avLst/>
                </a:prstGeom>
                <a:blipFill>
                  <a:blip r:embed="rId3"/>
                  <a:stretch>
                    <a:fillRect b="-130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955519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E5511-288B-44FC-9E3D-BED04BB8A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and Finish times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E79B4C-8EE8-4325-854A-8949963A178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A node status changed</a:t>
                </a:r>
              </a:p>
              <a:p>
                <a:pPr lvl="1"/>
                <a:r>
                  <a:rPr lang="en-US" dirty="0"/>
                  <a:t>from </a:t>
                </a:r>
                <a:r>
                  <a:rPr lang="en-US" dirty="0">
                    <a:solidFill>
                      <a:srgbClr val="00B050"/>
                    </a:solidFill>
                  </a:rPr>
                  <a:t>undiscovered</a:t>
                </a:r>
                <a:r>
                  <a:rPr lang="en-US" dirty="0"/>
                  <a:t> to </a:t>
                </a:r>
                <a:r>
                  <a:rPr lang="en-US" dirty="0">
                    <a:solidFill>
                      <a:schemeClr val="accent4">
                        <a:lumMod val="75000"/>
                      </a:schemeClr>
                    </a:solidFill>
                  </a:rPr>
                  <a:t>pending</a:t>
                </a:r>
                <a:r>
                  <a:rPr lang="en-US" dirty="0"/>
                  <a:t>:  </a:t>
                </a:r>
              </a:p>
              <a:p>
                <a:pPr lvl="2"/>
                <a:r>
                  <a:rPr lang="en-US" dirty="0"/>
                  <a:t>first time this node is discovered </a:t>
                </a:r>
              </a:p>
              <a:p>
                <a:pPr lvl="1"/>
                <a:r>
                  <a:rPr lang="en-US" dirty="0"/>
                  <a:t>from </a:t>
                </a:r>
                <a:r>
                  <a:rPr lang="en-US" dirty="0">
                    <a:solidFill>
                      <a:schemeClr val="accent4">
                        <a:lumMod val="75000"/>
                      </a:schemeClr>
                    </a:solidFill>
                  </a:rPr>
                  <a:t>pending</a:t>
                </a:r>
                <a:r>
                  <a:rPr lang="en-US" dirty="0"/>
                  <a:t> to </a:t>
                </a:r>
                <a:r>
                  <a:rPr lang="en-US" dirty="0">
                    <a:solidFill>
                      <a:srgbClr val="C00000"/>
                    </a:solidFill>
                  </a:rPr>
                  <a:t>visited</a:t>
                </a:r>
                <a:r>
                  <a:rPr lang="en-US" dirty="0"/>
                  <a:t>: </a:t>
                </a:r>
              </a:p>
              <a:p>
                <a:pPr lvl="2"/>
                <a:r>
                  <a:rPr lang="en-US" dirty="0"/>
                  <a:t>exploration of this node is finished</a:t>
                </a:r>
              </a:p>
              <a:p>
                <a:pPr lvl="2"/>
                <a:endParaRPr lang="en-US" sz="900" dirty="0"/>
              </a:p>
              <a:p>
                <a:r>
                  <a:rPr lang="en-US" dirty="0"/>
                  <a:t>Keep an integer running clock</a:t>
                </a:r>
              </a:p>
              <a:p>
                <a:r>
                  <a:rPr lang="en-US" dirty="0"/>
                  <a:t>For each node: </a:t>
                </a:r>
              </a:p>
              <a:p>
                <a:pPr lvl="1"/>
                <a:r>
                  <a:rPr lang="en-US" dirty="0">
                    <a:solidFill>
                      <a:srgbClr val="0070C0"/>
                    </a:solidFill>
                  </a:rPr>
                  <a:t>Start time</a:t>
                </a:r>
                <a:r>
                  <a:rPr lang="en-US" dirty="0"/>
                  <a:t>:   status changes from </a:t>
                </a:r>
                <a:r>
                  <a:rPr lang="en-US" dirty="0">
                    <a:solidFill>
                      <a:srgbClr val="00B050"/>
                    </a:solidFill>
                  </a:rPr>
                  <a:t>undiscovered</a:t>
                </a:r>
                <a:r>
                  <a:rPr lang="en-US" dirty="0"/>
                  <a:t> to </a:t>
                </a:r>
                <a:r>
                  <a:rPr lang="en-US" dirty="0">
                    <a:solidFill>
                      <a:schemeClr val="accent4">
                        <a:lumMod val="75000"/>
                      </a:schemeClr>
                    </a:solidFill>
                  </a:rPr>
                  <a:t>pending</a:t>
                </a:r>
              </a:p>
              <a:p>
                <a:pPr lvl="1"/>
                <a:r>
                  <a:rPr lang="en-US" dirty="0">
                    <a:solidFill>
                      <a:srgbClr val="0070C0"/>
                    </a:solidFill>
                  </a:rPr>
                  <a:t>Finish time</a:t>
                </a:r>
                <a:r>
                  <a:rPr lang="en-US" dirty="0"/>
                  <a:t>:  status changes from </a:t>
                </a:r>
                <a:r>
                  <a:rPr lang="en-US" dirty="0">
                    <a:solidFill>
                      <a:schemeClr val="accent4">
                        <a:lumMod val="75000"/>
                      </a:schemeClr>
                    </a:solidFill>
                  </a:rPr>
                  <a:t>pending</a:t>
                </a:r>
                <a:r>
                  <a:rPr lang="en-US" dirty="0"/>
                  <a:t> to </a:t>
                </a:r>
                <a:r>
                  <a:rPr lang="en-US" dirty="0">
                    <a:solidFill>
                      <a:srgbClr val="C00000"/>
                    </a:solidFill>
                  </a:rPr>
                  <a:t>visited</a:t>
                </a:r>
              </a:p>
              <a:p>
                <a:r>
                  <a:rPr lang="en-US" dirty="0"/>
                  <a:t>Clock increments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whenever some node is marked </a:t>
                </a:r>
                <a:r>
                  <a:rPr lang="en-US" dirty="0">
                    <a:solidFill>
                      <a:schemeClr val="accent4">
                        <a:lumMod val="75000"/>
                      </a:schemeClr>
                    </a:solidFill>
                  </a:rPr>
                  <a:t>pending</a:t>
                </a:r>
                <a:r>
                  <a:rPr lang="en-US" dirty="0"/>
                  <a:t>/</a:t>
                </a:r>
                <a:r>
                  <a:rPr lang="en-US" dirty="0">
                    <a:solidFill>
                      <a:srgbClr val="C00000"/>
                    </a:solidFill>
                  </a:rPr>
                  <a:t>visiting</a:t>
                </a:r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E79B4C-8EE8-4325-854A-8949963A17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b="-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5215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7C140-EA98-4F06-B66B-A8A7744C2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full_DFS_times</a:t>
            </a:r>
            <a:r>
              <a:rPr lang="en-US" dirty="0"/>
              <a:t>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5D7949-EE3A-4EA3-84AF-BEFAEBAAE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574" y="1161393"/>
            <a:ext cx="3011805" cy="3157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4D7250-373A-48C2-B302-0DAB3F9C6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870" y="1447800"/>
            <a:ext cx="1659731" cy="10201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156533-E33F-4F31-9520-6DF303AD99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7041" y="2514600"/>
            <a:ext cx="5246370" cy="174879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9AF9D9A-3AB1-4245-AD8C-B7F16E362A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4413" y="4374111"/>
            <a:ext cx="5043964" cy="233981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770140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5E161-017D-41E2-BB59-44F30B361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5A9C1-AEA4-4300-8CA5-4EF4391A505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ECA9379-AFA8-48FA-95DE-6677A1C790EB}"/>
              </a:ext>
            </a:extLst>
          </p:cNvPr>
          <p:cNvGrpSpPr/>
          <p:nvPr/>
        </p:nvGrpSpPr>
        <p:grpSpPr>
          <a:xfrm>
            <a:off x="1981200" y="1219200"/>
            <a:ext cx="5581650" cy="2552700"/>
            <a:chOff x="76200" y="1305910"/>
            <a:chExt cx="5581650" cy="25527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2A2FAE8-29A9-4E61-92EF-27A44AC337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8200" y="1305910"/>
              <a:ext cx="4819650" cy="25527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BB07592-1CA5-4AA2-9C9E-028844F1AEB9}"/>
                    </a:ext>
                  </a:extLst>
                </p:cNvPr>
                <p:cNvSpPr txBox="1"/>
                <p:nvPr/>
              </p:nvSpPr>
              <p:spPr>
                <a:xfrm>
                  <a:off x="76200" y="2209800"/>
                  <a:ext cx="609600" cy="5132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/>
                    <a:t>: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BB07592-1CA5-4AA2-9C9E-028844F1AE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00" y="2209800"/>
                  <a:ext cx="609600" cy="513282"/>
                </a:xfrm>
                <a:prstGeom prst="rect">
                  <a:avLst/>
                </a:prstGeom>
                <a:blipFill>
                  <a:blip r:embed="rId3"/>
                  <a:stretch>
                    <a:fillRect b="-130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73866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7E9C9-408A-71DC-93D4-864FD098D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25F62-20E7-8DA9-ADF9-2A8CD67F1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Nesting properties in DFS</a:t>
            </a:r>
          </a:p>
        </p:txBody>
      </p:sp>
    </p:spTree>
    <p:extLst>
      <p:ext uri="{BB962C8B-B14F-4D97-AF65-F5344CB8AC3E}">
        <p14:creationId xmlns:p14="http://schemas.microsoft.com/office/powerpoint/2010/main" val="17575821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7EFB2-6129-0252-F6B5-D054E9F64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DFS Key Property 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67D9D244-BB26-5E41-A1CB-D8CC1DE5280A}"/>
                  </a:ext>
                </a:extLst>
              </p:cNvPr>
              <p:cNvSpPr txBox="1">
                <a:spLocks noGrp="1"/>
              </p:cNvSpPr>
              <p:nvPr>
                <p:ph sz="quarter" idx="1"/>
              </p:nvPr>
            </p:nvSpPr>
            <p:spPr bwMode="auto">
              <a:xfrm>
                <a:off x="609600" y="1219201"/>
                <a:ext cx="10972800" cy="1905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Take any two nodes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reachable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If while exploring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we reached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,  then the exploration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to be done first before we finish exploring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That is:  start[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start[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67D9D244-BB26-5E41-A1CB-D8CC1DE5280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 bwMode="auto">
              <a:xfrm>
                <a:off x="609600" y="1219201"/>
                <a:ext cx="10972800" cy="1905000"/>
              </a:xfrm>
              <a:prstGeom prst="rect">
                <a:avLst/>
              </a:prstGeom>
              <a:blipFill>
                <a:blip r:embed="rId2"/>
                <a:stretch>
                  <a:fillRect l="-444" t="-2540"/>
                </a:stretch>
              </a:blip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4998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6FBFA-97CD-92C3-2630-C7A8F812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58B0AC-5E2B-217C-3D68-B97DD44AE78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7E60AE-D446-4F53-3DD5-9EB978866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609600"/>
            <a:ext cx="7072312" cy="2355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1628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6BB0E-7FCE-7389-6587-4A2C0A80F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52602-BA28-1122-7C70-8978E6E34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7E6C9-509C-713C-7098-DF1383D7AA5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152094"/>
            <a:ext cx="8229600" cy="300486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CFDE24-39D1-AB2F-B88D-10CE8B970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609600"/>
            <a:ext cx="7072312" cy="23551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750A7C0-5B5E-94E1-D084-080831F81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3207440"/>
            <a:ext cx="5586412" cy="3004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996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E2B6A-D1B1-4B7A-3C42-269439889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54C09-5912-8B0B-4601-D7F677BF0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2E9E7C-DAAA-55F1-7E61-5FC861A03E4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152400" y="3581400"/>
                <a:ext cx="8686800" cy="2575559"/>
              </a:xfrm>
            </p:spPr>
            <p:txBody>
              <a:bodyPr/>
              <a:lstStyle/>
              <a:p>
                <a:r>
                  <a:rPr lang="en-US" dirty="0"/>
                  <a:t>False! </a:t>
                </a:r>
              </a:p>
              <a:p>
                <a:pPr lvl="1"/>
                <a:r>
                  <a:rPr lang="en-US" dirty="0"/>
                  <a:t>Suppose </a:t>
                </a:r>
                <a:r>
                  <a:rPr lang="en-US" dirty="0" err="1"/>
                  <a:t>dfs</a:t>
                </a:r>
                <a:r>
                  <a:rPr lang="en-US" dirty="0"/>
                  <a:t>(4) is the root call.</a:t>
                </a:r>
              </a:p>
              <a:p>
                <a:pPr lvl="1"/>
                <a:r>
                  <a:rPr lang="en-US" dirty="0"/>
                  <a:t>When </a:t>
                </a:r>
                <a:r>
                  <a:rPr lang="en-US" dirty="0" err="1"/>
                  <a:t>dfs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 is called, node 5 is undiscovered</a:t>
                </a:r>
              </a:p>
              <a:p>
                <a:pPr lvl="1"/>
                <a:r>
                  <a:rPr lang="en-US" dirty="0"/>
                  <a:t>But </a:t>
                </a:r>
                <a:r>
                  <a:rPr lang="en-US" dirty="0" err="1"/>
                  <a:t>dfs</a:t>
                </a:r>
                <a:r>
                  <a:rPr lang="en-US" dirty="0"/>
                  <a:t>(5) is </a:t>
                </a:r>
                <a:r>
                  <a:rPr lang="en-US" dirty="0">
                    <a:solidFill>
                      <a:srgbClr val="700000"/>
                    </a:solidFill>
                  </a:rPr>
                  <a:t>not</a:t>
                </a:r>
                <a:r>
                  <a:rPr lang="en-US" dirty="0"/>
                  <a:t> called during </a:t>
                </a:r>
                <a:r>
                  <a:rPr lang="en-US" dirty="0" err="1"/>
                  <a:t>dfs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2E9E7C-DAAA-55F1-7E61-5FC861A03E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152400" y="3581400"/>
                <a:ext cx="8686800" cy="2575559"/>
              </a:xfrm>
              <a:blipFill>
                <a:blip r:embed="rId2"/>
                <a:stretch>
                  <a:fillRect l="-632" t="-2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C4A68C8-E818-CDA2-DF35-0D45B01CE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0" y="609600"/>
            <a:ext cx="7072312" cy="23551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082CE4-FFB3-E00C-7A15-ABDC553CD0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3243535"/>
            <a:ext cx="5586412" cy="3004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9517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7FA1D-01DD-B520-1ADA-4A4D35DD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DFS Key Property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541BC2-6A56-00D1-8D11-EF623F2462A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10972800" cy="2438400"/>
              </a:xfrm>
            </p:spPr>
            <p:txBody>
              <a:bodyPr/>
              <a:lstStyle/>
              <a:p>
                <a:r>
                  <a:rPr lang="en-US" dirty="0"/>
                  <a:t>If at time </a:t>
                </a:r>
                <a:r>
                  <a:rPr lang="en-US" dirty="0" err="1"/>
                  <a:t>dfs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) is called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</a:t>
                </a:r>
                <a:r>
                  <a:rPr lang="en-US" dirty="0">
                    <a:solidFill>
                      <a:srgbClr val="00B050"/>
                    </a:solidFill>
                  </a:rPr>
                  <a:t>undiscovered</a:t>
                </a:r>
                <a:r>
                  <a:rPr lang="en-US" dirty="0"/>
                  <a:t>, and</a:t>
                </a:r>
              </a:p>
              <a:p>
                <a:pPr lvl="1"/>
                <a:r>
                  <a:rPr lang="en-US" dirty="0"/>
                  <a:t>There is a path of </a:t>
                </a:r>
                <a:r>
                  <a:rPr lang="en-US" dirty="0">
                    <a:solidFill>
                      <a:srgbClr val="00B050"/>
                    </a:solidFill>
                  </a:rPr>
                  <a:t>undiscovered</a:t>
                </a:r>
                <a:r>
                  <a:rPr lang="en-US" dirty="0"/>
                  <a:t> nodes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Then </a:t>
                </a:r>
              </a:p>
              <a:p>
                <a:pPr lvl="1"/>
                <a:r>
                  <a:rPr lang="en-US" dirty="0" err="1"/>
                  <a:t>dfs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) will </a:t>
                </a:r>
                <a:r>
                  <a:rPr lang="en-US" dirty="0">
                    <a:solidFill>
                      <a:srgbClr val="700000"/>
                    </a:solidFill>
                  </a:rPr>
                  <a:t>start and finish </a:t>
                </a:r>
                <a:r>
                  <a:rPr lang="en-US" dirty="0"/>
                  <a:t>during the call of </a:t>
                </a:r>
                <a:r>
                  <a:rPr lang="en-US" dirty="0" err="1"/>
                  <a:t>dfs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)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541BC2-6A56-00D1-8D11-EF623F246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10972800" cy="2438400"/>
              </a:xfrm>
              <a:blipFill>
                <a:blip r:embed="rId2"/>
                <a:stretch>
                  <a:fillRect l="-500" t="-2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78854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FA82B-328D-1498-2ADE-BA0CB0042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041D9-93C1-1488-77A2-E8D8AAAF8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DFS Key Property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0540E5-CD51-B4CF-7EDD-36F99CA55C8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10972800" cy="2438400"/>
              </a:xfrm>
            </p:spPr>
            <p:txBody>
              <a:bodyPr/>
              <a:lstStyle/>
              <a:p>
                <a:r>
                  <a:rPr lang="en-US" dirty="0"/>
                  <a:t>If at time </a:t>
                </a:r>
                <a:r>
                  <a:rPr lang="en-US" dirty="0" err="1"/>
                  <a:t>dfs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) is called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</a:t>
                </a:r>
                <a:r>
                  <a:rPr lang="en-US" dirty="0">
                    <a:solidFill>
                      <a:srgbClr val="00B050"/>
                    </a:solidFill>
                  </a:rPr>
                  <a:t>undiscovered</a:t>
                </a:r>
                <a:r>
                  <a:rPr lang="en-US" dirty="0"/>
                  <a:t>, and</a:t>
                </a:r>
              </a:p>
              <a:p>
                <a:pPr lvl="1"/>
                <a:r>
                  <a:rPr lang="en-US" dirty="0"/>
                  <a:t>There is a path of </a:t>
                </a:r>
                <a:r>
                  <a:rPr lang="en-US" dirty="0">
                    <a:solidFill>
                      <a:srgbClr val="00B050"/>
                    </a:solidFill>
                  </a:rPr>
                  <a:t>undiscovered</a:t>
                </a:r>
                <a:r>
                  <a:rPr lang="en-US" dirty="0"/>
                  <a:t> nodes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Then </a:t>
                </a:r>
              </a:p>
              <a:p>
                <a:pPr lvl="1"/>
                <a:r>
                  <a:rPr lang="en-US" dirty="0" err="1"/>
                  <a:t>dfs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) will </a:t>
                </a:r>
                <a:r>
                  <a:rPr lang="en-US" dirty="0">
                    <a:solidFill>
                      <a:srgbClr val="700000"/>
                    </a:solidFill>
                  </a:rPr>
                  <a:t>start and finish </a:t>
                </a:r>
                <a:r>
                  <a:rPr lang="en-US" dirty="0"/>
                  <a:t>during the call of </a:t>
                </a:r>
                <a:r>
                  <a:rPr lang="en-US" dirty="0" err="1"/>
                  <a:t>dfs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)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0540E5-CD51-B4CF-7EDD-36F99CA55C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10972800" cy="2438400"/>
              </a:xfrm>
              <a:blipFill>
                <a:blip r:embed="rId2"/>
                <a:stretch>
                  <a:fillRect l="-500" t="-2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37A7E566-2FEE-9FC8-6F5F-4480B752A20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609600" y="4038600"/>
                <a:ext cx="10972800" cy="137160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In fact, during the call of </a:t>
                </a:r>
                <a:r>
                  <a:rPr lang="en-US" dirty="0" err="1"/>
                  <a:t>dfs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):</a:t>
                </a:r>
              </a:p>
              <a:p>
                <a:pPr lvl="1"/>
                <a:r>
                  <a:rPr lang="en-US" dirty="0"/>
                  <a:t>It will visit exactly those nodes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who is reachable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by a path of </a:t>
                </a:r>
                <a:r>
                  <a:rPr lang="en-US" dirty="0">
                    <a:solidFill>
                      <a:srgbClr val="00B050"/>
                    </a:solidFill>
                  </a:rPr>
                  <a:t>undiscovered</a:t>
                </a:r>
                <a:r>
                  <a:rPr lang="en-US" dirty="0"/>
                  <a:t> at the time. 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37A7E566-2FEE-9FC8-6F5F-4480B752A2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9600" y="4038600"/>
                <a:ext cx="10972800" cy="1371600"/>
              </a:xfrm>
              <a:prstGeom prst="rect">
                <a:avLst/>
              </a:prstGeom>
              <a:blipFill>
                <a:blip r:embed="rId3"/>
                <a:stretch>
                  <a:fillRect l="-388" t="-3478"/>
                </a:stretch>
              </a:blipFill>
              <a:ln w="28575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52119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4F5C2-66FB-3C84-5E32-409B025AE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6A637-62F2-757D-00F3-2E0F67A884F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182850"/>
            <a:ext cx="10744200" cy="2974109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FA3478-3E0E-4D92-068E-6CC0A5B57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81000"/>
            <a:ext cx="7943850" cy="2573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0561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849B3-B72A-1F4A-C523-5345B82F4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DF1C4-5AA8-D2BD-04C0-64A0F2D05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FC0086-F2D4-FAEA-2970-7E50A0D538B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182850"/>
            <a:ext cx="10744200" cy="2974109"/>
          </a:xfrm>
        </p:spPr>
        <p:txBody>
          <a:bodyPr/>
          <a:lstStyle/>
          <a:p>
            <a:r>
              <a:rPr lang="en-US" dirty="0"/>
              <a:t>True!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1282D4-84B7-E640-1273-851FA0233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81000"/>
            <a:ext cx="7943850" cy="2573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7238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0FC0E-98D6-4048-9305-3610C50E5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Nesting Property of DFS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9A304C-5DC1-4CF7-BCB8-4143152C406A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164021"/>
                <a:ext cx="10972800" cy="2264979"/>
              </a:xfrm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 dirty="0"/>
                  <a:t>Claim A: </a:t>
                </a:r>
              </a:p>
              <a:p>
                <a:pPr lvl="1"/>
                <a:r>
                  <a:rPr lang="en-US" dirty="0"/>
                  <a:t>Take any two nodes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Assume start[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start[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</a:t>
                </a:r>
              </a:p>
              <a:p>
                <a:pPr lvl="1"/>
                <a:r>
                  <a:rPr lang="en-US" dirty="0"/>
                  <a:t>Exactly one of the following two is true:</a:t>
                </a:r>
              </a:p>
              <a:p>
                <a:pPr lvl="2"/>
                <a:r>
                  <a:rPr lang="en-US" dirty="0"/>
                  <a:t>start[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start[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</a:p>
              <a:p>
                <a:pPr lvl="2"/>
                <a:r>
                  <a:rPr lang="en-US" dirty="0"/>
                  <a:t>start[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start[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9A304C-5DC1-4CF7-BCB8-4143152C40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164021"/>
                <a:ext cx="10972800" cy="2264979"/>
              </a:xfrm>
              <a:blipFill>
                <a:blip r:embed="rId2"/>
                <a:stretch>
                  <a:fillRect l="-444" t="-2139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28664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8C053-85E7-C58E-20E1-0F932B109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425AD-8B28-F386-FE4F-A5294A9FD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Nesting Property of DFS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6335C-7F5C-D25A-394D-6EF3B17B8BD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164021"/>
                <a:ext cx="10972800" cy="2264979"/>
              </a:xfrm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 dirty="0"/>
                  <a:t>Claim A: </a:t>
                </a:r>
              </a:p>
              <a:p>
                <a:pPr lvl="1"/>
                <a:r>
                  <a:rPr lang="en-US" dirty="0"/>
                  <a:t>Take any two nodes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Assume start[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start[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</a:t>
                </a:r>
              </a:p>
              <a:p>
                <a:pPr lvl="1"/>
                <a:r>
                  <a:rPr lang="en-US" dirty="0"/>
                  <a:t>Exactly one of the following two is true:</a:t>
                </a:r>
              </a:p>
              <a:p>
                <a:pPr lvl="2"/>
                <a:r>
                  <a:rPr lang="en-US" dirty="0"/>
                  <a:t>start[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start[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</a:p>
              <a:p>
                <a:pPr lvl="2"/>
                <a:r>
                  <a:rPr lang="en-US" dirty="0"/>
                  <a:t>start[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start[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6335C-7F5C-D25A-394D-6EF3B17B8B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164021"/>
                <a:ext cx="10972800" cy="2264979"/>
              </a:xfrm>
              <a:blipFill>
                <a:blip r:embed="rId2"/>
                <a:stretch>
                  <a:fillRect l="-444" t="-2139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091B80C8-66B0-9C17-D6B3-F7E160BAB58D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609600" y="3810000"/>
                <a:ext cx="10972800" cy="2133601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1"/>
                <a:r>
                  <a:rPr lang="en-US" dirty="0"/>
                  <a:t>In particular, if when </a:t>
                </a:r>
                <a:r>
                  <a:rPr lang="en-US" dirty="0" err="1"/>
                  <a:t>dfs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) is called there is a path of </a:t>
                </a:r>
                <a:r>
                  <a:rPr lang="en-US" dirty="0">
                    <a:solidFill>
                      <a:srgbClr val="00B050"/>
                    </a:solidFill>
                  </a:rPr>
                  <a:t>undiscovered </a:t>
                </a:r>
                <a:r>
                  <a:rPr lang="en-US" dirty="0"/>
                  <a:t>nodes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, then </a:t>
                </a:r>
              </a:p>
              <a:p>
                <a:pPr lvl="2"/>
                <a:r>
                  <a:rPr lang="en-US" dirty="0"/>
                  <a:t>start[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start[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</a:p>
              <a:p>
                <a:pPr lvl="1"/>
                <a:r>
                  <a:rPr lang="en-US" dirty="0"/>
                  <a:t>Otherwise:</a:t>
                </a:r>
              </a:p>
              <a:p>
                <a:pPr lvl="2"/>
                <a:r>
                  <a:rPr lang="en-US" dirty="0"/>
                  <a:t>start[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start[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</a:p>
              <a:p>
                <a:pPr lvl="2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091B80C8-66B0-9C17-D6B3-F7E160BAB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9600" y="3810000"/>
                <a:ext cx="10972800" cy="2133601"/>
              </a:xfrm>
              <a:prstGeom prst="rect">
                <a:avLst/>
              </a:prstGeom>
              <a:blipFill>
                <a:blip r:embed="rId3"/>
                <a:stretch>
                  <a:fillRect t="-2286" r="-1333"/>
                </a:stretch>
              </a:blipFill>
              <a:ln w="2857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17715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DAGs and topological sort</a:t>
            </a:r>
          </a:p>
        </p:txBody>
      </p:sp>
    </p:spTree>
    <p:extLst>
      <p:ext uri="{BB962C8B-B14F-4D97-AF65-F5344CB8AC3E}">
        <p14:creationId xmlns:p14="http://schemas.microsoft.com/office/powerpoint/2010/main" val="6757204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04EB7-57BC-4831-9FFB-EB9322334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 of DFS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EDBC13-1BEC-4A4C-8CCE-141CA91AE67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Is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reachable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? </a:t>
                </a:r>
              </a:p>
              <a:p>
                <a:r>
                  <a:rPr lang="en-US" dirty="0"/>
                  <a:t>Is a undirected graph connected? </a:t>
                </a:r>
              </a:p>
              <a:p>
                <a:r>
                  <a:rPr lang="en-US" dirty="0"/>
                  <a:t>How many connected components are there in a undirected graph? </a:t>
                </a:r>
              </a:p>
              <a:p>
                <a:r>
                  <a:rPr lang="en-US" dirty="0"/>
                  <a:t>Is the input graph a tree? </a:t>
                </a:r>
              </a:p>
              <a:p>
                <a:r>
                  <a:rPr lang="en-US" dirty="0"/>
                  <a:t>Find the shortest path to a source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? </a:t>
                </a:r>
              </a:p>
              <a:p>
                <a:pPr lvl="1"/>
                <a:r>
                  <a:rPr lang="en-US" dirty="0">
                    <a:solidFill>
                      <a:srgbClr val="C00000"/>
                    </a:solidFill>
                  </a:rPr>
                  <a:t>NO !</a:t>
                </a:r>
              </a:p>
              <a:p>
                <a:pPr lvl="1"/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Unlike BFS. </a:t>
                </a:r>
              </a:p>
              <a:p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But DFS can be used for </a:t>
                </a:r>
                <a:r>
                  <a:rPr lang="en-US" dirty="0" err="1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sth</a:t>
                </a:r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. that BFS cannot provide</a:t>
                </a:r>
              </a:p>
              <a:p>
                <a:pPr lvl="1"/>
                <a:r>
                  <a:rPr 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Topological sort for </a:t>
                </a:r>
                <a:r>
                  <a:rPr lang="en-US" dirty="0">
                    <a:solidFill>
                      <a:srgbClr val="700000"/>
                    </a:solidFill>
                  </a:rPr>
                  <a:t>directed acyclic graphs (DAGs)</a:t>
                </a:r>
              </a:p>
              <a:p>
                <a:endParaRPr lang="en-US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EDBC13-1BEC-4A4C-8CCE-141CA91AE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00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8767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0C259-CBDF-48C3-A29C-022F0EBB5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Prerequisite graphs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ADF9D7-B332-4584-B7C4-CFC0C7857C5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3657600"/>
                <a:ext cx="10591800" cy="2499360"/>
              </a:xfrm>
            </p:spPr>
            <p:txBody>
              <a:bodyPr/>
              <a:lstStyle/>
              <a:p>
                <a:r>
                  <a:rPr lang="en-US" dirty="0"/>
                  <a:t>Note that this graph is a directed graph</a:t>
                </a:r>
              </a:p>
              <a:p>
                <a:pPr lvl="1"/>
                <a:r>
                  <a:rPr lang="en-US" dirty="0"/>
                  <a:t>edge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) means that course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is prerequisite for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dirty="0"/>
              </a:p>
              <a:p>
                <a:r>
                  <a:rPr lang="en-US" dirty="0"/>
                  <a:t>Goal: </a:t>
                </a:r>
              </a:p>
              <a:p>
                <a:pPr lvl="1"/>
                <a:r>
                  <a:rPr lang="en-US" dirty="0"/>
                  <a:t>Find an ordering so as to take these classes satisfying all prerequisite requirements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1ADF9D7-B332-4584-B7C4-CFC0C7857C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3657600"/>
                <a:ext cx="10591800" cy="2499360"/>
              </a:xfrm>
              <a:blipFill>
                <a:blip r:embed="rId2"/>
                <a:stretch>
                  <a:fillRect l="-518" t="-2195" r="-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EB7DFAD-651D-4103-8122-C466A2452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676401"/>
            <a:ext cx="6922294" cy="1635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50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7970-E181-4F18-896F-0F45898BD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Directed Acyclic Graphs (DAGs)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AA319-1590-4345-99F0-EC80BB33F33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Recall: A</a:t>
            </a:r>
            <a:r>
              <a:rPr lang="en-US" dirty="0">
                <a:solidFill>
                  <a:srgbClr val="0070C0"/>
                </a:solidFill>
              </a:rPr>
              <a:t> cycle </a:t>
            </a:r>
            <a:r>
              <a:rPr lang="en-US" dirty="0"/>
              <a:t>is a path from a node to itself. </a:t>
            </a:r>
          </a:p>
          <a:p>
            <a:r>
              <a:rPr lang="en-US" dirty="0"/>
              <a:t>A </a:t>
            </a:r>
            <a:r>
              <a:rPr lang="en-US" dirty="0">
                <a:solidFill>
                  <a:srgbClr val="0070C0"/>
                </a:solidFill>
              </a:rPr>
              <a:t>directed acyclic graph </a:t>
            </a:r>
            <a:r>
              <a:rPr lang="en-US" dirty="0"/>
              <a:t>(</a:t>
            </a:r>
            <a:r>
              <a:rPr lang="en-US" dirty="0">
                <a:solidFill>
                  <a:srgbClr val="0070C0"/>
                </a:solidFill>
              </a:rPr>
              <a:t>DAG</a:t>
            </a:r>
            <a:r>
              <a:rPr lang="en-US" dirty="0"/>
              <a:t>) is a directed graph that does not contain any (directed) cycles 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0895F19-75C9-4A41-87F2-5FED4F06CEF0}"/>
              </a:ext>
            </a:extLst>
          </p:cNvPr>
          <p:cNvGrpSpPr/>
          <p:nvPr/>
        </p:nvGrpSpPr>
        <p:grpSpPr>
          <a:xfrm>
            <a:off x="1981200" y="2743200"/>
            <a:ext cx="4114801" cy="1752600"/>
            <a:chOff x="76199" y="1305910"/>
            <a:chExt cx="5581651" cy="25527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401083A-D71C-44BC-91CE-8CBE3552C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8200" y="1305910"/>
              <a:ext cx="4819650" cy="25527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BE85855-E5F1-4A40-8FC4-E4C3AD93AD5A}"/>
                    </a:ext>
                  </a:extLst>
                </p:cNvPr>
                <p:cNvSpPr txBox="1"/>
                <p:nvPr/>
              </p:nvSpPr>
              <p:spPr>
                <a:xfrm>
                  <a:off x="76199" y="2209800"/>
                  <a:ext cx="761999" cy="660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/>
                    <a:t>: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BE85855-E5F1-4A40-8FC4-E4C3AD93A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99" y="2209800"/>
                  <a:ext cx="761999" cy="660004"/>
                </a:xfrm>
                <a:prstGeom prst="rect">
                  <a:avLst/>
                </a:prstGeom>
                <a:blipFill>
                  <a:blip r:embed="rId3"/>
                  <a:stretch>
                    <a:fillRect l="-2174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82F3328D-8726-4AF7-96BC-8205B56DF5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4652764"/>
            <a:ext cx="5537835" cy="1308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2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65663-7BCF-13A1-9E04-8FF3C5CC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30F9F-8ACA-A9BB-2FD8-25FCF1049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Directed Acyclic Graphs (DAGs)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6E4C0-6589-89A6-D55B-EB760B91745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Recall: A</a:t>
            </a:r>
            <a:r>
              <a:rPr lang="en-US" dirty="0">
                <a:solidFill>
                  <a:srgbClr val="0070C0"/>
                </a:solidFill>
              </a:rPr>
              <a:t> cycle </a:t>
            </a:r>
            <a:r>
              <a:rPr lang="en-US" dirty="0"/>
              <a:t>is a path from a node to itself. </a:t>
            </a:r>
          </a:p>
          <a:p>
            <a:r>
              <a:rPr lang="en-US" dirty="0"/>
              <a:t>A </a:t>
            </a:r>
            <a:r>
              <a:rPr lang="en-US" dirty="0">
                <a:solidFill>
                  <a:srgbClr val="0070C0"/>
                </a:solidFill>
              </a:rPr>
              <a:t>directed acyclic graph </a:t>
            </a:r>
            <a:r>
              <a:rPr lang="en-US" dirty="0"/>
              <a:t>(</a:t>
            </a:r>
            <a:r>
              <a:rPr lang="en-US" dirty="0">
                <a:solidFill>
                  <a:srgbClr val="0070C0"/>
                </a:solidFill>
              </a:rPr>
              <a:t>DAG</a:t>
            </a:r>
            <a:r>
              <a:rPr lang="en-US" dirty="0"/>
              <a:t>) is a directed graph that does not contain any (directed) cycles 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F836537-9127-9AC3-244F-C986D6185A48}"/>
              </a:ext>
            </a:extLst>
          </p:cNvPr>
          <p:cNvGrpSpPr/>
          <p:nvPr/>
        </p:nvGrpSpPr>
        <p:grpSpPr>
          <a:xfrm>
            <a:off x="1981200" y="2743200"/>
            <a:ext cx="4114801" cy="1752600"/>
            <a:chOff x="76199" y="1305910"/>
            <a:chExt cx="5581651" cy="25527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BAE6DD1-2926-4827-247A-BD43C988E7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8200" y="1305910"/>
              <a:ext cx="4819650" cy="25527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B001B51-F030-1C08-DAE9-CD0003E91D41}"/>
                    </a:ext>
                  </a:extLst>
                </p:cNvPr>
                <p:cNvSpPr txBox="1"/>
                <p:nvPr/>
              </p:nvSpPr>
              <p:spPr>
                <a:xfrm>
                  <a:off x="76199" y="2209800"/>
                  <a:ext cx="761999" cy="660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/>
                    <a:t>:</a:t>
                  </a: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B001B51-F030-1C08-DAE9-CD0003E91D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99" y="2209800"/>
                  <a:ext cx="761999" cy="660004"/>
                </a:xfrm>
                <a:prstGeom prst="rect">
                  <a:avLst/>
                </a:prstGeom>
                <a:blipFill>
                  <a:blip r:embed="rId3"/>
                  <a:stretch>
                    <a:fillRect l="-2174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F06C95A-E96E-8C24-4DE5-37510C0B3984}"/>
              </a:ext>
            </a:extLst>
          </p:cNvPr>
          <p:cNvSpPr txBox="1"/>
          <p:nvPr/>
        </p:nvSpPr>
        <p:spPr>
          <a:xfrm>
            <a:off x="6553200" y="3200400"/>
            <a:ext cx="1600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Not a DAG! </a:t>
            </a:r>
            <a:endParaRPr lang="en-US" dirty="0">
              <a:solidFill>
                <a:srgbClr val="C0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F21D8B4-D7DE-5B39-BD25-50BCEF8F1C86}"/>
              </a:ext>
            </a:extLst>
          </p:cNvPr>
          <p:cNvGrpSpPr/>
          <p:nvPr/>
        </p:nvGrpSpPr>
        <p:grpSpPr>
          <a:xfrm>
            <a:off x="1524000" y="4652764"/>
            <a:ext cx="8224066" cy="1308735"/>
            <a:chOff x="1550556" y="4784377"/>
            <a:chExt cx="8224066" cy="1308735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3EB87FF-367A-DC44-A77B-0730A814296C}"/>
                </a:ext>
              </a:extLst>
            </p:cNvPr>
            <p:cNvSpPr txBox="1"/>
            <p:nvPr/>
          </p:nvSpPr>
          <p:spPr>
            <a:xfrm>
              <a:off x="8174422" y="5238690"/>
              <a:ext cx="16002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00B050"/>
                  </a:solidFill>
                </a:rPr>
                <a:t>A DAG! </a:t>
              </a:r>
              <a:endParaRPr lang="en-US" dirty="0">
                <a:solidFill>
                  <a:srgbClr val="00B050"/>
                </a:solidFill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F06EFA1D-6085-EEC6-EC1A-4ED53A7874E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50556" y="4784377"/>
              <a:ext cx="5537835" cy="1308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69563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2D55D-7E5D-47DB-983B-979C8FEAD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Topological Sorts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EDD255-3FF2-4CBC-A83D-D96C2860E696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Given a DAG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a </a:t>
                </a:r>
                <a:r>
                  <a:rPr lang="en-US" dirty="0">
                    <a:solidFill>
                      <a:srgbClr val="0070C0"/>
                    </a:solidFill>
                  </a:rPr>
                  <a:t>topological sort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is an ordering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such that </a:t>
                </a:r>
              </a:p>
              <a:p>
                <a:pPr lvl="1"/>
                <a:r>
                  <a:rPr lang="en-US" dirty="0"/>
                  <a:t>for any edge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comes before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in this ordering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EDD255-3FF2-4CBC-A83D-D96C2860E6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00" t="-1111" r="-10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A6EB604-6F4C-4C2A-8A6C-BC20BA785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1" y="2286000"/>
            <a:ext cx="5569607" cy="1316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801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AAA47-7896-23FF-A613-94D6A28C2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A38F4-789F-4374-D54A-E6D85BCC5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Topological Sorts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920858-C0AA-96EE-9356-E118A4842480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Given a DAG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a </a:t>
                </a:r>
                <a:r>
                  <a:rPr lang="en-US" dirty="0">
                    <a:solidFill>
                      <a:srgbClr val="0070C0"/>
                    </a:solidFill>
                  </a:rPr>
                  <a:t>topological sort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is an ordering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such that </a:t>
                </a:r>
              </a:p>
              <a:p>
                <a:pPr lvl="1"/>
                <a:r>
                  <a:rPr lang="en-US" dirty="0"/>
                  <a:t>for any edge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comes before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in this ordering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920858-C0AA-96EE-9356-E118A48424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00" t="-1111" r="-10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41829A8A-6A94-FF11-E48A-C2E8D0902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1" y="2286000"/>
            <a:ext cx="5569607" cy="13162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DE89313-1868-EBA4-055D-3CF0ECC679DD}"/>
              </a:ext>
            </a:extLst>
          </p:cNvPr>
          <p:cNvSpPr txBox="1"/>
          <p:nvPr/>
        </p:nvSpPr>
        <p:spPr>
          <a:xfrm>
            <a:off x="2201917" y="3925669"/>
            <a:ext cx="7543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 topological sort: </a:t>
            </a:r>
          </a:p>
          <a:p>
            <a:r>
              <a:rPr lang="en-US" dirty="0"/>
              <a:t>DSC10, Math18, DSC20, DSC40A, DSC30, DSC40B, DSC80, DSC151</a:t>
            </a:r>
          </a:p>
        </p:txBody>
      </p:sp>
    </p:spTree>
    <p:extLst>
      <p:ext uri="{BB962C8B-B14F-4D97-AF65-F5344CB8AC3E}">
        <p14:creationId xmlns:p14="http://schemas.microsoft.com/office/powerpoint/2010/main" val="2802727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5C444-1B43-D595-EA1B-890877E78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D9777-4A05-17DC-6FE6-5FE581FF4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Topological Sorts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635C5D-C1A8-C122-7BDD-25A0F63D7032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Given a DAG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a </a:t>
                </a:r>
                <a:r>
                  <a:rPr lang="en-US" dirty="0">
                    <a:solidFill>
                      <a:srgbClr val="0070C0"/>
                    </a:solidFill>
                  </a:rPr>
                  <a:t>topological sort</a:t>
                </a:r>
                <a:r>
                  <a:rPr lang="en-US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is an ordering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such that </a:t>
                </a:r>
              </a:p>
              <a:p>
                <a:pPr lvl="1"/>
                <a:r>
                  <a:rPr lang="en-US" dirty="0"/>
                  <a:t>for any edge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comes before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in this ordering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sz="1000" dirty="0"/>
              </a:p>
              <a:p>
                <a:r>
                  <a:rPr lang="en-US" dirty="0"/>
                  <a:t>Topological sorts of the same DAG are not unique.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635C5D-C1A8-C122-7BDD-25A0F63D70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00" t="-1111" r="-1056" b="-38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DBCD7DC-1E17-6964-74D5-7EB665B48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1" y="2286000"/>
            <a:ext cx="5569607" cy="13162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3123F8-0DDD-50BB-0A06-C0C0DDAFE1DC}"/>
              </a:ext>
            </a:extLst>
          </p:cNvPr>
          <p:cNvSpPr txBox="1"/>
          <p:nvPr/>
        </p:nvSpPr>
        <p:spPr>
          <a:xfrm>
            <a:off x="2201917" y="3925668"/>
            <a:ext cx="7543800" cy="5875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 topological sort: </a:t>
            </a:r>
          </a:p>
          <a:p>
            <a:r>
              <a:rPr lang="en-US" dirty="0"/>
              <a:t>DSC10, Math18, DSC20, DSC40A, DSC30, DSC40B, DSC80, DSC151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CB464E-03B2-FC54-ADDE-CC54B673E14F}"/>
              </a:ext>
            </a:extLst>
          </p:cNvPr>
          <p:cNvSpPr txBox="1"/>
          <p:nvPr/>
        </p:nvSpPr>
        <p:spPr>
          <a:xfrm>
            <a:off x="2201917" y="4836666"/>
            <a:ext cx="754380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Another topological sort: </a:t>
            </a:r>
          </a:p>
          <a:p>
            <a:r>
              <a:rPr lang="en-US" dirty="0"/>
              <a:t>Math18, DSC10, DSC20, DSC30, DSC40A, DSC40B, DSC80, DSC151</a:t>
            </a:r>
          </a:p>
        </p:txBody>
      </p:sp>
    </p:spTree>
    <p:extLst>
      <p:ext uri="{BB962C8B-B14F-4D97-AF65-F5344CB8AC3E}">
        <p14:creationId xmlns:p14="http://schemas.microsoft.com/office/powerpoint/2010/main" val="2723652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21E10-1467-453B-9442-EAC806351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DAG?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BF5A11-F99E-45CD-826E-D2BEF8002FB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10820400" cy="1295400"/>
              </a:xfrm>
            </p:spPr>
            <p:txBody>
              <a:bodyPr/>
              <a:lstStyle/>
              <a:p>
                <a:r>
                  <a:rPr lang="en-US" dirty="0"/>
                  <a:t>Claim: </a:t>
                </a:r>
              </a:p>
              <a:p>
                <a:pPr lvl="1"/>
                <a:r>
                  <a:rPr lang="en-US" dirty="0"/>
                  <a:t>A directed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can admit a topological sort </a:t>
                </a:r>
                <a:r>
                  <a:rPr lang="en-US" dirty="0">
                    <a:solidFill>
                      <a:srgbClr val="C00000"/>
                    </a:solidFill>
                  </a:rPr>
                  <a:t>if and only if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is a DAG!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BF5A11-F99E-45CD-826E-D2BEF8002F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10820400" cy="1295400"/>
              </a:xfrm>
              <a:blipFill>
                <a:blip r:embed="rId2"/>
                <a:stretch>
                  <a:fillRect l="-507" t="-42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4A712227-9EF3-4033-8E94-71D1C069ACAC}"/>
              </a:ext>
            </a:extLst>
          </p:cNvPr>
          <p:cNvGrpSpPr/>
          <p:nvPr/>
        </p:nvGrpSpPr>
        <p:grpSpPr>
          <a:xfrm>
            <a:off x="6781800" y="3429000"/>
            <a:ext cx="4114801" cy="1752600"/>
            <a:chOff x="76199" y="1305910"/>
            <a:chExt cx="5581651" cy="25527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5806C95-8B36-4BCB-BFA6-D227CD905B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8200" y="1305910"/>
              <a:ext cx="4819650" cy="25527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6E556ED-0CCC-493A-90E3-5C73BEB6A3DB}"/>
                    </a:ext>
                  </a:extLst>
                </p:cNvPr>
                <p:cNvSpPr txBox="1"/>
                <p:nvPr/>
              </p:nvSpPr>
              <p:spPr>
                <a:xfrm>
                  <a:off x="76199" y="2209800"/>
                  <a:ext cx="761999" cy="660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/>
                    <a:t>: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BE85855-E5F1-4A40-8FC4-E4C3AD93A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99" y="2209800"/>
                  <a:ext cx="761999" cy="660004"/>
                </a:xfrm>
                <a:prstGeom prst="rect">
                  <a:avLst/>
                </a:prstGeom>
                <a:blipFill>
                  <a:blip r:embed="rId4"/>
                  <a:stretch>
                    <a:fillRect l="-2174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01366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B3705-2A1F-42A3-6DEC-01A014F09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F0D98-4D48-E935-EE01-7E382D6B3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DAG?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C751D5-F567-1450-539D-4257B2BE1AF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10820400" cy="1295400"/>
              </a:xfrm>
            </p:spPr>
            <p:txBody>
              <a:bodyPr/>
              <a:lstStyle/>
              <a:p>
                <a:r>
                  <a:rPr lang="en-US" dirty="0"/>
                  <a:t>Claim: </a:t>
                </a:r>
              </a:p>
              <a:p>
                <a:pPr lvl="1"/>
                <a:r>
                  <a:rPr lang="en-US" dirty="0"/>
                  <a:t>A directed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can admit a topological sort </a:t>
                </a:r>
                <a:r>
                  <a:rPr lang="en-US" dirty="0">
                    <a:solidFill>
                      <a:srgbClr val="C00000"/>
                    </a:solidFill>
                  </a:rPr>
                  <a:t>if and only if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is a DAG! 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C751D5-F567-1450-539D-4257B2BE1A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10820400" cy="1295400"/>
              </a:xfrm>
              <a:blipFill>
                <a:blip r:embed="rId2"/>
                <a:stretch>
                  <a:fillRect l="-507" t="-42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C1CBA7F-2C11-CCF6-6676-1441B89AFB7F}"/>
              </a:ext>
            </a:extLst>
          </p:cNvPr>
          <p:cNvSpPr txBox="1">
            <a:spLocks/>
          </p:cNvSpPr>
          <p:nvPr/>
        </p:nvSpPr>
        <p:spPr bwMode="auto">
          <a:xfrm>
            <a:off x="609600" y="2982781"/>
            <a:ext cx="6019800" cy="30480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6000"/>
              <a:buFont typeface="Wingdings 3" pitchFamily="18" charset="2"/>
              <a:buChar char="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7688" indent="-27305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chemeClr val="accent2"/>
              </a:buClr>
              <a:buSzPct val="76000"/>
              <a:buFont typeface="Wingdings 3" pitchFamily="18" charset="2"/>
              <a:buChar char=""/>
              <a:defRPr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325" indent="-22860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BCBCBC"/>
              </a:buClr>
              <a:buSzPct val="76000"/>
              <a:buFont typeface="Wingdings 3" pitchFamily="18" charset="2"/>
              <a:buChar char="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228600" algn="l" rtl="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8BA2B4"/>
              </a:buClr>
              <a:buSzPct val="70000"/>
              <a:buFont typeface="Wingdings" pitchFamily="2" charset="2"/>
              <a:buChar char="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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Why?</a:t>
            </a:r>
          </a:p>
          <a:p>
            <a:pPr lvl="1"/>
            <a:r>
              <a:rPr lang="en-US" dirty="0"/>
              <a:t>If there is a cycle, then there is no valid ordering for nodes in that cycle!  </a:t>
            </a:r>
          </a:p>
          <a:p>
            <a:pPr lvl="1"/>
            <a:r>
              <a:rPr lang="en-US" dirty="0"/>
              <a:t>If it is a DAG, then we will give an algorithm to show we can compute topological sort. </a:t>
            </a:r>
          </a:p>
          <a:p>
            <a:pPr lvl="1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E4843AB-DBE8-1348-DA22-20DE3C16624F}"/>
              </a:ext>
            </a:extLst>
          </p:cNvPr>
          <p:cNvGrpSpPr/>
          <p:nvPr/>
        </p:nvGrpSpPr>
        <p:grpSpPr>
          <a:xfrm>
            <a:off x="6781800" y="3429000"/>
            <a:ext cx="4114801" cy="1752600"/>
            <a:chOff x="76199" y="1305910"/>
            <a:chExt cx="5581651" cy="25527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F872ECC-A1CA-E000-B2AA-F7BEE52762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8200" y="1305910"/>
              <a:ext cx="4819650" cy="2552700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41045C1-709A-FBEE-82C6-FB5784572CD9}"/>
                    </a:ext>
                  </a:extLst>
                </p:cNvPr>
                <p:cNvSpPr txBox="1"/>
                <p:nvPr/>
              </p:nvSpPr>
              <p:spPr>
                <a:xfrm>
                  <a:off x="76199" y="2209800"/>
                  <a:ext cx="761999" cy="6600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𝐺</m:t>
                      </m:r>
                    </m:oMath>
                  </a14:m>
                  <a:r>
                    <a:rPr lang="en-US" dirty="0"/>
                    <a:t>:</a:t>
                  </a:r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841045C1-709A-FBEE-82C6-FB5784572C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99" y="2209800"/>
                  <a:ext cx="761999" cy="660004"/>
                </a:xfrm>
                <a:prstGeom prst="rect">
                  <a:avLst/>
                </a:prstGeom>
                <a:blipFill>
                  <a:blip r:embed="rId4"/>
                  <a:stretch>
                    <a:fillRect l="-3261" b="-17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49314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52A3A-D94E-9FE9-2F53-E9771A09C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9CEF40-5639-697A-EA46-ABD134E7164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Given a DAG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we aim to have an algorithm to compute a topological sort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9CEF40-5639-697A-EA46-ABD134E716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00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62645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59652-3D41-BE6F-E32F-BFBAA1661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5CABA-CA93-2116-E388-A6828EA19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DFS Key Property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1C6651-9BBA-D279-1629-DB49E66EBA70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762000" y="4191000"/>
                <a:ext cx="10820400" cy="1066799"/>
              </a:xfrm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 dirty="0"/>
                  <a:t>Claim B:  If a </a:t>
                </a:r>
                <a:r>
                  <a:rPr lang="en-US" dirty="0">
                    <a:solidFill>
                      <a:srgbClr val="700000"/>
                    </a:solidFill>
                  </a:rPr>
                  <a:t>directed graph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rgbClr val="700000"/>
                    </a:solidFill>
                  </a:rPr>
                  <a:t>does not have cycles</a:t>
                </a:r>
                <a:r>
                  <a:rPr lang="en-US" dirty="0"/>
                  <a:t>, and node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reachable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then finish[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1C6651-9BBA-D279-1629-DB49E66EBA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762000" y="4191000"/>
                <a:ext cx="10820400" cy="1066799"/>
              </a:xfrm>
              <a:blipFill>
                <a:blip r:embed="rId2"/>
                <a:stretch>
                  <a:fillRect l="-450" t="-5114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0692A6C-9F21-7FAD-7D28-AFAFB0BD3B20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762000" y="1447800"/>
                <a:ext cx="10820400" cy="16764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Recall that for any two nodes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reachable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If while exploring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we reached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,  then the exploration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to be done first before we finish exploring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That is:  start[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start[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0692A6C-9F21-7FAD-7D28-AFAFB0BD3B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2000" y="1447800"/>
                <a:ext cx="10820400" cy="1676400"/>
              </a:xfrm>
              <a:prstGeom prst="rect">
                <a:avLst/>
              </a:prstGeom>
              <a:blipFill>
                <a:blip r:embed="rId3"/>
                <a:stretch>
                  <a:fillRect l="-450" t="-3249" b="-2527"/>
                </a:stretch>
              </a:blip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090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D33A6-2D78-4B8B-3685-66E78D6A0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818C3-4BAE-32A9-71B4-91DE6591A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algorithm to compute topo-sort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64B442-4C05-2C7F-FD10-F224BD174D5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11125200" cy="2438400"/>
              </a:xfrm>
            </p:spPr>
            <p:txBody>
              <a:bodyPr/>
              <a:lstStyle/>
              <a:p>
                <a:r>
                  <a:rPr lang="en-US" sz="2700" dirty="0"/>
                  <a:t>Suppose we are given a DAG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700" b="0" dirty="0"/>
                  <a:t>.  </a:t>
                </a:r>
              </a:p>
              <a:p>
                <a:r>
                  <a:rPr lang="en-US" sz="2700" b="0" dirty="0"/>
                  <a:t>Consider any two nodes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700" b="0" dirty="0"/>
                  <a:t> such that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reachable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First, note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should come before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in </a:t>
                </a:r>
                <a:r>
                  <a:rPr lang="en-US" dirty="0">
                    <a:solidFill>
                      <a:srgbClr val="700000"/>
                    </a:solidFill>
                  </a:rPr>
                  <a:t>any topological sort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064B442-4C05-2C7F-FD10-F224BD174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11125200" cy="2438400"/>
              </a:xfrm>
              <a:blipFill>
                <a:blip r:embed="rId2"/>
                <a:stretch>
                  <a:fillRect l="-548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582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7EC4F-F992-4638-92B5-61C95A66B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algorithm to compute topo-sort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6FEEE0-144D-4190-8709-AD56A32D0E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11125200" cy="2438400"/>
              </a:xfrm>
            </p:spPr>
            <p:txBody>
              <a:bodyPr/>
              <a:lstStyle/>
              <a:p>
                <a:r>
                  <a:rPr lang="en-US" sz="2700" dirty="0"/>
                  <a:t>Suppose we are given a DAG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700" b="0" dirty="0"/>
                  <a:t>.  </a:t>
                </a:r>
              </a:p>
              <a:p>
                <a:r>
                  <a:rPr lang="en-US" sz="2700" b="0" dirty="0"/>
                  <a:t>Consider any two nodes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700" b="0" dirty="0"/>
                  <a:t> such that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reachable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First, note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should come before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in </a:t>
                </a:r>
                <a:r>
                  <a:rPr lang="en-US" dirty="0">
                    <a:solidFill>
                      <a:srgbClr val="700000"/>
                    </a:solidFill>
                  </a:rPr>
                  <a:t>any topological sort</a:t>
                </a:r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On the other hand, by Claim B,  finish[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6FEEE0-144D-4190-8709-AD56A32D0E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11125200" cy="2438400"/>
              </a:xfrm>
              <a:blipFill>
                <a:blip r:embed="rId2"/>
                <a:stretch>
                  <a:fillRect l="-548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0480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6DFAC-897F-9563-CE7E-D8422FE28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36E0-F3A5-FFC5-D9D6-AEC755A16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algorithm to compute topo-sort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246CF7-14A8-3FCD-2B0C-BB2C196C108E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11125200" cy="2438400"/>
              </a:xfrm>
            </p:spPr>
            <p:txBody>
              <a:bodyPr/>
              <a:lstStyle/>
              <a:p>
                <a:r>
                  <a:rPr lang="en-US" sz="2700" dirty="0"/>
                  <a:t>Suppose we are given a DAG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700" b="0" dirty="0"/>
                  <a:t>.  </a:t>
                </a:r>
              </a:p>
              <a:p>
                <a:r>
                  <a:rPr lang="en-US" sz="2700" b="0" dirty="0"/>
                  <a:t>Consider any two nodes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700" b="0" dirty="0"/>
                  <a:t> such that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reachable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First, note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should come before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in </a:t>
                </a:r>
                <a:r>
                  <a:rPr lang="en-US" dirty="0">
                    <a:solidFill>
                      <a:srgbClr val="700000"/>
                    </a:solidFill>
                  </a:rPr>
                  <a:t>any topological sort</a:t>
                </a:r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On the other hand, by Claim B,  finish[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</a:t>
                </a:r>
              </a:p>
              <a:p>
                <a:r>
                  <a:rPr lang="en-US" dirty="0"/>
                  <a:t>Hence nodes with later </a:t>
                </a:r>
                <a:r>
                  <a:rPr lang="en-US" dirty="0">
                    <a:solidFill>
                      <a:srgbClr val="0070C0"/>
                    </a:solidFill>
                  </a:rPr>
                  <a:t>finish-time</a:t>
                </a:r>
                <a:r>
                  <a:rPr lang="en-US" dirty="0"/>
                  <a:t> should come first in </a:t>
                </a:r>
                <a:r>
                  <a:rPr lang="en-US" dirty="0">
                    <a:solidFill>
                      <a:srgbClr val="700000"/>
                    </a:solidFill>
                  </a:rPr>
                  <a:t>any topological sort</a:t>
                </a:r>
                <a:r>
                  <a:rPr lang="en-US" dirty="0"/>
                  <a:t>! </a:t>
                </a:r>
              </a:p>
              <a:p>
                <a:endParaRPr lang="en-US" sz="800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246CF7-14A8-3FCD-2B0C-BB2C196C10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11125200" cy="2438400"/>
              </a:xfrm>
              <a:blipFill>
                <a:blip r:embed="rId2"/>
                <a:stretch>
                  <a:fillRect l="-548" t="-2500" b="-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8927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28C1B-787A-0B5C-7741-2E8892AB9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D0AF3-BCE8-3ABF-538C-049852A8C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algorithm to compute topo-sort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6C5108-4496-8AB4-600C-D68FE60432D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11125200" cy="2438400"/>
              </a:xfrm>
            </p:spPr>
            <p:txBody>
              <a:bodyPr/>
              <a:lstStyle/>
              <a:p>
                <a:r>
                  <a:rPr lang="en-US" sz="2700" dirty="0"/>
                  <a:t>Suppose we are given a DAG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700" b="0" dirty="0"/>
                  <a:t>.  </a:t>
                </a:r>
              </a:p>
              <a:p>
                <a:r>
                  <a:rPr lang="en-US" sz="2700" b="0" dirty="0"/>
                  <a:t>Consider any two nodes </a:t>
                </a:r>
                <a14:m>
                  <m:oMath xmlns:m="http://schemas.openxmlformats.org/officeDocument/2006/math"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7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700" b="0" dirty="0"/>
                  <a:t> such that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is reachable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First, note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should come before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in </a:t>
                </a:r>
                <a:r>
                  <a:rPr lang="en-US" dirty="0">
                    <a:solidFill>
                      <a:srgbClr val="700000"/>
                    </a:solidFill>
                  </a:rPr>
                  <a:t>any topological sort</a:t>
                </a:r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On the other hand, by Claim B,  finish[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finish[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]</a:t>
                </a:r>
              </a:p>
              <a:p>
                <a:r>
                  <a:rPr lang="en-US" dirty="0"/>
                  <a:t>Hence nodes with later </a:t>
                </a:r>
                <a:r>
                  <a:rPr lang="en-US" dirty="0">
                    <a:solidFill>
                      <a:srgbClr val="0070C0"/>
                    </a:solidFill>
                  </a:rPr>
                  <a:t>finish-time</a:t>
                </a:r>
                <a:r>
                  <a:rPr lang="en-US" dirty="0"/>
                  <a:t> should come first in </a:t>
                </a:r>
                <a:r>
                  <a:rPr lang="en-US" dirty="0">
                    <a:solidFill>
                      <a:srgbClr val="700000"/>
                    </a:solidFill>
                  </a:rPr>
                  <a:t>any topological sort</a:t>
                </a:r>
                <a:r>
                  <a:rPr lang="en-US" dirty="0"/>
                  <a:t>! </a:t>
                </a:r>
              </a:p>
              <a:p>
                <a:endParaRPr lang="en-US" sz="800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6C5108-4496-8AB4-600C-D68FE60432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11125200" cy="2438400"/>
              </a:xfrm>
              <a:blipFill>
                <a:blip r:embed="rId2"/>
                <a:stretch>
                  <a:fillRect l="-548" t="-2500" b="-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38BA4899-2C6A-C3E9-39D4-2F142BB3F552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609600" y="3855194"/>
                <a:ext cx="10744200" cy="147880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Topo-sort Algorithm: </a:t>
                </a:r>
              </a:p>
              <a:p>
                <a:pPr lvl="1"/>
                <a:r>
                  <a:rPr lang="en-US" dirty="0"/>
                  <a:t>First perform DFS on input graph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 the order in decreasing order of </a:t>
                </a:r>
                <a:r>
                  <a:rPr lang="en-US" dirty="0">
                    <a:solidFill>
                      <a:srgbClr val="0070C0"/>
                    </a:solidFill>
                  </a:rPr>
                  <a:t>finish-time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38BA4899-2C6A-C3E9-39D4-2F142BB3F5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09600" y="3855194"/>
                <a:ext cx="10744200" cy="1478806"/>
              </a:xfrm>
              <a:prstGeom prst="rect">
                <a:avLst/>
              </a:prstGeom>
              <a:blipFill>
                <a:blip r:embed="rId3"/>
                <a:stretch>
                  <a:fillRect l="-453" t="-3265"/>
                </a:stretch>
              </a:blip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96A400F-0F32-D876-4821-B5B8F07D5DCA}"/>
              </a:ext>
            </a:extLst>
          </p:cNvPr>
          <p:cNvSpPr txBox="1">
            <a:spLocks/>
          </p:cNvSpPr>
          <p:nvPr/>
        </p:nvSpPr>
        <p:spPr bwMode="auto">
          <a:xfrm>
            <a:off x="609600" y="5607794"/>
            <a:ext cx="9525000" cy="1478806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6000"/>
              <a:buFont typeface="Wingdings 3" pitchFamily="18" charset="2"/>
              <a:buChar char="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7688" indent="-27305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chemeClr val="accent2"/>
              </a:buClr>
              <a:buSzPct val="76000"/>
              <a:buFont typeface="Wingdings 3" pitchFamily="18" charset="2"/>
              <a:buChar char=""/>
              <a:defRPr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325" indent="-22860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BCBCBC"/>
              </a:buClr>
              <a:buSzPct val="76000"/>
              <a:buFont typeface="Wingdings 3" pitchFamily="18" charset="2"/>
              <a:buChar char="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228600" algn="l" rtl="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8BA2B4"/>
              </a:buClr>
              <a:buSzPct val="70000"/>
              <a:buFont typeface="Wingdings" pitchFamily="2" charset="2"/>
              <a:buChar char="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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41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C97AE-42D6-2305-E176-A1B732F3D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DD23-F569-8CB7-8916-334CFEEAC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Complexity of Topo-Sort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D6A18D09-B80D-1F3E-2702-1D6070CB6BB8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71500" y="1371600"/>
                <a:ext cx="10744200" cy="147880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Topo-sort Algorithm: </a:t>
                </a:r>
              </a:p>
              <a:p>
                <a:pPr lvl="1"/>
                <a:r>
                  <a:rPr lang="en-US" dirty="0"/>
                  <a:t>First perform DFS on input graph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 the order in decreasing order of </a:t>
                </a:r>
                <a:r>
                  <a:rPr lang="en-US" dirty="0">
                    <a:solidFill>
                      <a:srgbClr val="0070C0"/>
                    </a:solidFill>
                  </a:rPr>
                  <a:t>finish-time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D6A18D09-B80D-1F3E-2702-1D6070CB6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1500" y="1371600"/>
                <a:ext cx="10744200" cy="1478806"/>
              </a:xfrm>
              <a:prstGeom prst="rect">
                <a:avLst/>
              </a:prstGeom>
              <a:blipFill>
                <a:blip r:embed="rId2"/>
                <a:stretch>
                  <a:fillRect l="-454" t="-3265"/>
                </a:stretch>
              </a:blip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88D072C-E6CC-A016-516A-5833D3BAA3C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3352800"/>
                <a:ext cx="10744200" cy="2317927"/>
              </a:xfrm>
            </p:spPr>
            <p:txBody>
              <a:bodyPr/>
              <a:lstStyle/>
              <a:p>
                <a:r>
                  <a:rPr lang="en-US" dirty="0"/>
                  <a:t>In general, sorting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/>
                  <a:t> numbers takes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r>
                  <a:rPr lang="en-US" dirty="0"/>
                  <a:t> time. 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88D072C-E6CC-A016-516A-5833D3BAA3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3352800"/>
                <a:ext cx="10744200" cy="2317927"/>
              </a:xfrm>
              <a:blipFill>
                <a:blip r:embed="rId3"/>
                <a:stretch>
                  <a:fillRect l="-510" t="-2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2503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87959-F509-A629-CC24-9D1354BB7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CDA7-42B7-4997-9F5E-B49D3389B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Complexity of Topo-Sort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632ADB34-502C-C419-2A8B-11AF3463672F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71500" y="1371600"/>
                <a:ext cx="10744200" cy="1478806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273050" indent="-273050" algn="l" rtl="0" eaLnBrk="0" fontAlgn="base" hangingPunct="0">
                  <a:spcBef>
                    <a:spcPts val="600"/>
                  </a:spcBef>
                  <a:spcAft>
                    <a:spcPct val="0"/>
                  </a:spcAft>
                  <a:buClr>
                    <a:schemeClr val="accent1"/>
                  </a:buClr>
                  <a:buSzPct val="76000"/>
                  <a:buFont typeface="Wingdings 3" pitchFamily="18" charset="2"/>
                  <a:buChar char="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7688" indent="-27305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chemeClr val="accent2"/>
                  </a:buClr>
                  <a:buSzPct val="76000"/>
                  <a:buFont typeface="Wingdings 3" pitchFamily="18" charset="2"/>
                  <a:buChar char=""/>
                  <a:defRPr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325" indent="-228600" algn="l" rtl="0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BCBCBC"/>
                  </a:buClr>
                  <a:buSzPct val="76000"/>
                  <a:buFont typeface="Wingdings 3" pitchFamily="18" charset="2"/>
                  <a:buChar char="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6963" indent="-228600" algn="l" rtl="0" eaLnBrk="0" fontAlgn="base" hangingPunct="0">
                  <a:spcBef>
                    <a:spcPts val="400"/>
                  </a:spcBef>
                  <a:spcAft>
                    <a:spcPct val="0"/>
                  </a:spcAft>
                  <a:buClr>
                    <a:srgbClr val="8BA2B4"/>
                  </a:buClr>
                  <a:buSzPct val="70000"/>
                  <a:buFont typeface="Wingdings" pitchFamily="2" charset="2"/>
                  <a:buChar char="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0" fontAlgn="base" hangingPunct="0">
                  <a:spcBef>
                    <a:spcPts val="3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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Topo-sort Algorithm: </a:t>
                </a:r>
              </a:p>
              <a:p>
                <a:pPr lvl="1"/>
                <a:r>
                  <a:rPr lang="en-US" dirty="0"/>
                  <a:t>First perform DFS on input graph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 the order in decreasing order of </a:t>
                </a:r>
                <a:r>
                  <a:rPr lang="en-US" dirty="0">
                    <a:solidFill>
                      <a:srgbClr val="0070C0"/>
                    </a:solidFill>
                  </a:rPr>
                  <a:t>finish-time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632ADB34-502C-C419-2A8B-11AF34636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1500" y="1371600"/>
                <a:ext cx="10744200" cy="1478806"/>
              </a:xfrm>
              <a:prstGeom prst="rect">
                <a:avLst/>
              </a:prstGeom>
              <a:blipFill>
                <a:blip r:embed="rId2"/>
                <a:stretch>
                  <a:fillRect l="-454" t="-3265"/>
                </a:stretch>
              </a:blipFill>
              <a:ln w="1270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26515FD4-BB51-C17D-080B-06131B5365E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3352800"/>
                <a:ext cx="10744200" cy="2317927"/>
              </a:xfrm>
            </p:spPr>
            <p:txBody>
              <a:bodyPr/>
              <a:lstStyle/>
              <a:p>
                <a:r>
                  <a:rPr lang="en-US" dirty="0"/>
                  <a:t>In general, sorting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/>
                  <a:t> numbers takes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r>
                  <a:rPr lang="en-US" dirty="0"/>
                  <a:t> time. </a:t>
                </a:r>
              </a:p>
              <a:p>
                <a:r>
                  <a:rPr lang="en-US" dirty="0"/>
                  <a:t>However, here, all “</a:t>
                </a:r>
                <a:r>
                  <a:rPr lang="en-US" dirty="0">
                    <a:solidFill>
                      <a:srgbClr val="0070C0"/>
                    </a:solidFill>
                  </a:rPr>
                  <a:t>finish-times</a:t>
                </a:r>
                <a:r>
                  <a:rPr lang="en-US" dirty="0"/>
                  <a:t>” are integers between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1 </m:t>
                    </m:r>
                  </m:oMath>
                </a14:m>
                <a:r>
                  <a:rPr lang="en-US" dirty="0"/>
                  <a:t>to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Sorting them can be done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time!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Total time complexity: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26515FD4-BB51-C17D-080B-06131B5365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3352800"/>
                <a:ext cx="10744200" cy="2317927"/>
              </a:xfrm>
              <a:blipFill>
                <a:blip r:embed="rId3"/>
                <a:stretch>
                  <a:fillRect l="-510" t="-2368" b="-4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2834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D1453-E58B-45BD-BAA4-656BAE632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02CE3-4B96-4158-9FA7-2876DB5B774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3048000"/>
            <a:ext cx="8229600" cy="310896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E3D3F3-6A1C-4DBF-BFE6-254AC491E3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1" y="1371600"/>
            <a:ext cx="5569607" cy="1316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355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1779F-2602-44B4-B239-83E3D144E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Remark: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F7E09E-0DCA-4AAA-9B7D-77D3F26AFB0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There are many other ways to compute a topological sort for a DAG in the same time complexity, without using DFS. </a:t>
            </a:r>
          </a:p>
        </p:txBody>
      </p:sp>
    </p:spTree>
    <p:extLst>
      <p:ext uri="{BB962C8B-B14F-4D97-AF65-F5344CB8AC3E}">
        <p14:creationId xmlns:p14="http://schemas.microsoft.com/office/powerpoint/2010/main" val="36044193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BD274-5D1B-4B47-AD9A-20913BB23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590313-5FA4-406C-AA44-ADCCC47DD02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DFS: </a:t>
            </a:r>
          </a:p>
          <a:p>
            <a:pPr lvl="1"/>
            <a:r>
              <a:rPr lang="en-US" dirty="0"/>
              <a:t>Yet another graph search strategy </a:t>
            </a:r>
          </a:p>
          <a:p>
            <a:pPr lvl="1"/>
            <a:r>
              <a:rPr lang="en-US" dirty="0"/>
              <a:t>Similarly to BFS, as a graph search strategy, can help solve many problems, such as checking for connectivity, reachability, finding a path and so on. 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But has some different properties as BFS</a:t>
            </a:r>
          </a:p>
          <a:p>
            <a:pPr lvl="2"/>
            <a:r>
              <a:rPr lang="en-US" dirty="0"/>
              <a:t>BFS: useful for finding shortest path to the source</a:t>
            </a:r>
          </a:p>
          <a:p>
            <a:pPr lvl="2"/>
            <a:r>
              <a:rPr lang="en-US" dirty="0"/>
              <a:t>DFS: has nesting properties in terms of start/finish times. </a:t>
            </a:r>
          </a:p>
          <a:p>
            <a:pPr lvl="3"/>
            <a:r>
              <a:rPr lang="en-US" dirty="0"/>
              <a:t>An application: Topological sort in DAG </a:t>
            </a:r>
          </a:p>
        </p:txBody>
      </p:sp>
    </p:spTree>
    <p:extLst>
      <p:ext uri="{BB962C8B-B14F-4D97-AF65-F5344CB8AC3E}">
        <p14:creationId xmlns:p14="http://schemas.microsoft.com/office/powerpoint/2010/main" val="325610243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6764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53708342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YUSU@WQEIJCNFUVWXY5M7" val="3343"/>
  <p:tag name="FIRSTYUSU@YOW8PJOFUVWXY5L9" val="3347"/>
  <p:tag name="DEFAULTDISPLAYSOURCE" val="\documentclass{article}\pagestyle{empty}&#10;\begin{document}&#10;&#10;\end{document}&#10;"/>
  <p:tag name="EMBEDFONTS" val="1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21569</TotalTime>
  <Words>2288</Words>
  <Application>Microsoft Office PowerPoint</Application>
  <PresentationFormat>Widescreen</PresentationFormat>
  <Paragraphs>291</Paragraphs>
  <Slides>53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53</vt:i4>
      </vt:variant>
    </vt:vector>
  </HeadingPairs>
  <TitlesOfParts>
    <vt:vector size="64" baseType="lpstr">
      <vt:lpstr>Calibri Light</vt:lpstr>
      <vt:lpstr>Arial</vt:lpstr>
      <vt:lpstr>Wingdings 3</vt:lpstr>
      <vt:lpstr>Calibri</vt:lpstr>
      <vt:lpstr>Bookman Old Style</vt:lpstr>
      <vt:lpstr>Gill Sans MT</vt:lpstr>
      <vt:lpstr>Cambria Math</vt:lpstr>
      <vt:lpstr>Wingdings</vt:lpstr>
      <vt:lpstr>Origin</vt:lpstr>
      <vt:lpstr>1_Custom Design</vt:lpstr>
      <vt:lpstr>Custom Design</vt:lpstr>
      <vt:lpstr>DSC40B: Theoretical Foundations of Data Science II </vt:lpstr>
      <vt:lpstr>One more property about BFS </vt:lpstr>
      <vt:lpstr>Prelude</vt:lpstr>
      <vt:lpstr>DFS algorithm and time complexity</vt:lpstr>
      <vt:lpstr>Depth-first Search (DFS)</vt:lpstr>
      <vt:lpstr>Depth-first Search (DFS)</vt:lpstr>
      <vt:lpstr>PowerPoint Presentation</vt:lpstr>
      <vt:lpstr>Implementation in Python</vt:lpstr>
      <vt:lpstr>Example</vt:lpstr>
      <vt:lpstr>Full DFS</vt:lpstr>
      <vt:lpstr>Complete code</vt:lpstr>
      <vt:lpstr>Example</vt:lpstr>
      <vt:lpstr>Time complexity analysis</vt:lpstr>
      <vt:lpstr>DFS Tree, start and finish times</vt:lpstr>
      <vt:lpstr>full_DFS</vt:lpstr>
      <vt:lpstr>“Parent” (Predecessor) information</vt:lpstr>
      <vt:lpstr>Observations</vt:lpstr>
      <vt:lpstr>Start and Finish times</vt:lpstr>
      <vt:lpstr>full_DFS_times implementation</vt:lpstr>
      <vt:lpstr>Example</vt:lpstr>
      <vt:lpstr>Nesting properties in DFS</vt:lpstr>
      <vt:lpstr>DFS Key Property 1</vt:lpstr>
      <vt:lpstr>PowerPoint Presentation</vt:lpstr>
      <vt:lpstr>PowerPoint Presentation</vt:lpstr>
      <vt:lpstr>PowerPoint Presentation</vt:lpstr>
      <vt:lpstr>DFS Key Property 2</vt:lpstr>
      <vt:lpstr>DFS Key Property 2</vt:lpstr>
      <vt:lpstr>PowerPoint Presentation</vt:lpstr>
      <vt:lpstr>PowerPoint Presentation</vt:lpstr>
      <vt:lpstr>Nesting Property of DFS</vt:lpstr>
      <vt:lpstr>Nesting Property of DFS</vt:lpstr>
      <vt:lpstr>DAGs and topological sort</vt:lpstr>
      <vt:lpstr>Applications of DFS</vt:lpstr>
      <vt:lpstr>Prerequisite graphs </vt:lpstr>
      <vt:lpstr>Directed Acyclic Graphs (DAGs)</vt:lpstr>
      <vt:lpstr>Directed Acyclic Graphs (DAGs)</vt:lpstr>
      <vt:lpstr>Topological Sorts </vt:lpstr>
      <vt:lpstr>Topological Sorts </vt:lpstr>
      <vt:lpstr>Topological Sorts </vt:lpstr>
      <vt:lpstr>Why DAG? </vt:lpstr>
      <vt:lpstr>Why DAG? </vt:lpstr>
      <vt:lpstr>PowerPoint Presentation</vt:lpstr>
      <vt:lpstr>DFS Key Property 3</vt:lpstr>
      <vt:lpstr>An algorithm to compute topo-sort</vt:lpstr>
      <vt:lpstr>An algorithm to compute topo-sort</vt:lpstr>
      <vt:lpstr>An algorithm to compute topo-sort</vt:lpstr>
      <vt:lpstr>An algorithm to compute topo-sort</vt:lpstr>
      <vt:lpstr>Time Complexity of Topo-Sort Algorithm</vt:lpstr>
      <vt:lpstr>Time Complexity of Topo-Sort Algorithm</vt:lpstr>
      <vt:lpstr>Example</vt:lpstr>
      <vt:lpstr>Remark: </vt:lpstr>
      <vt:lpstr>Summary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wang, yusu</dc:creator>
  <cp:lastModifiedBy>enid wang</cp:lastModifiedBy>
  <cp:revision>1289</cp:revision>
  <dcterms:created xsi:type="dcterms:W3CDTF">2006-08-16T00:00:00Z</dcterms:created>
  <dcterms:modified xsi:type="dcterms:W3CDTF">2025-02-20T03:47:04Z</dcterms:modified>
</cp:coreProperties>
</file>